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87" r:id="rId4"/>
    <p:sldId id="295" r:id="rId5"/>
    <p:sldId id="261" r:id="rId6"/>
    <p:sldId id="294" r:id="rId7"/>
    <p:sldId id="296" r:id="rId8"/>
    <p:sldId id="263" r:id="rId9"/>
    <p:sldId id="265" r:id="rId10"/>
    <p:sldId id="266" r:id="rId11"/>
    <p:sldId id="274" r:id="rId12"/>
    <p:sldId id="297" r:id="rId13"/>
    <p:sldId id="278" r:id="rId14"/>
    <p:sldId id="293" r:id="rId15"/>
    <p:sldId id="298" r:id="rId16"/>
    <p:sldId id="299" r:id="rId17"/>
    <p:sldId id="284" r:id="rId18"/>
    <p:sldId id="301" r:id="rId19"/>
    <p:sldId id="283" r:id="rId20"/>
    <p:sldId id="285" r:id="rId21"/>
    <p:sldId id="286" r:id="rId22"/>
  </p:sldIdLst>
  <p:sldSz cx="12192000" cy="6858000"/>
  <p:notesSz cx="12192000" cy="6858000"/>
  <p:defaultTextStyle>
    <a:defPPr>
      <a:defRPr kern="0"/>
    </a:defPPr>
  </p:defaultTextStyle>
  <p:extLst>
    <p:ext uri="{521415D9-36F7-43E2-AB2F-B90AF26B5E84}">
      <p14:sectionLst xmlns:p14="http://schemas.microsoft.com/office/powerpoint/2010/main">
        <p14:section name="Untitled Section" id="{91ECCA13-C3AD-40DC-A15E-7AF54D126196}">
          <p14:sldIdLst>
            <p14:sldId id="256"/>
            <p14:sldId id="257"/>
            <p14:sldId id="287"/>
            <p14:sldId id="295"/>
            <p14:sldId id="261"/>
            <p14:sldId id="294"/>
            <p14:sldId id="296"/>
            <p14:sldId id="263"/>
            <p14:sldId id="265"/>
            <p14:sldId id="266"/>
            <p14:sldId id="274"/>
            <p14:sldId id="297"/>
            <p14:sldId id="278"/>
            <p14:sldId id="293"/>
            <p14:sldId id="298"/>
            <p14:sldId id="299"/>
            <p14:sldId id="284"/>
            <p14:sldId id="301"/>
            <p14:sldId id="283"/>
            <p14:sldId id="285"/>
            <p14:sldId id="286"/>
          </p14:sldIdLst>
        </p14:section>
        <p14:section name="Default Section" id="{2D600CBD-72E2-41E0-BA0B-18402E7EDA70}">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D96FED-45C0-4C67-8200-0CEC12823CA8}" v="29" dt="2026-03-05T07:52:04.16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6" d="100"/>
          <a:sy n="76" d="100"/>
        </p:scale>
        <p:origin x="43"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E69B43A-A93C-43B7-BFB2-26F529528603}" type="datetimeFigureOut">
              <a:rPr lang="en-IN" smtClean="0"/>
              <a:t>04-03-2026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337F31A-DC6E-4189-963A-F3B1CFBCA71D}" type="slidenum">
              <a:rPr lang="en-IN" smtClean="0"/>
              <a:t>‹#›</a:t>
            </a:fld>
            <a:endParaRPr lang="en-IN"/>
          </a:p>
        </p:txBody>
      </p:sp>
    </p:spTree>
    <p:extLst>
      <p:ext uri="{BB962C8B-B14F-4D97-AF65-F5344CB8AC3E}">
        <p14:creationId xmlns:p14="http://schemas.microsoft.com/office/powerpoint/2010/main" val="2362536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800" b="1" i="0">
                <a:solidFill>
                  <a:srgbClr val="FF0000"/>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FF000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FF0000"/>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FF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79019" y="75133"/>
            <a:ext cx="7280656" cy="783641"/>
          </a:xfrm>
          <a:prstGeom prst="rect">
            <a:avLst/>
          </a:prstGeom>
        </p:spPr>
        <p:txBody>
          <a:bodyPr wrap="square" lIns="0" tIns="0" rIns="0" bIns="0">
            <a:spAutoFit/>
          </a:bodyPr>
          <a:lstStyle>
            <a:lvl1pPr>
              <a:defRPr sz="2800" b="1" i="0">
                <a:solidFill>
                  <a:srgbClr val="FF0000"/>
                </a:solidFill>
                <a:latin typeface="Times New Roman"/>
                <a:cs typeface="Times New Roman"/>
              </a:defRPr>
            </a:lvl1pPr>
          </a:lstStyle>
          <a:p>
            <a:endParaRPr/>
          </a:p>
        </p:txBody>
      </p:sp>
      <p:sp>
        <p:nvSpPr>
          <p:cNvPr id="3" name="Holder 3"/>
          <p:cNvSpPr>
            <a:spLocks noGrp="1"/>
          </p:cNvSpPr>
          <p:nvPr>
            <p:ph type="body" idx="1"/>
          </p:nvPr>
        </p:nvSpPr>
        <p:spPr>
          <a:xfrm>
            <a:off x="448157" y="1657349"/>
            <a:ext cx="10575925" cy="429260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3/4/2026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3124200"/>
            <a:ext cx="10515600" cy="873957"/>
          </a:xfrm>
          <a:prstGeom prst="rect">
            <a:avLst/>
          </a:prstGeom>
        </p:spPr>
        <p:txBody>
          <a:bodyPr vert="horz" wrap="square" lIns="0" tIns="12065" rIns="0" bIns="0" rtlCol="0">
            <a:spAutoFit/>
          </a:bodyPr>
          <a:lstStyle/>
          <a:p>
            <a:pPr algn="ctr">
              <a:spcBef>
                <a:spcPts val="95"/>
              </a:spcBef>
            </a:pPr>
            <a:br>
              <a:rPr lang="en-US" dirty="0"/>
            </a:br>
            <a:endParaRPr lang="en-US" spc="-25" dirty="0"/>
          </a:p>
        </p:txBody>
      </p:sp>
      <p:sp>
        <p:nvSpPr>
          <p:cNvPr id="3" name="object 3"/>
          <p:cNvSpPr txBox="1"/>
          <p:nvPr/>
        </p:nvSpPr>
        <p:spPr>
          <a:xfrm>
            <a:off x="7772400" y="4343400"/>
            <a:ext cx="8305800" cy="1195840"/>
          </a:xfrm>
          <a:prstGeom prst="rect">
            <a:avLst/>
          </a:prstGeom>
        </p:spPr>
        <p:txBody>
          <a:bodyPr vert="horz" wrap="square" lIns="0" tIns="13335" rIns="0" bIns="0" rtlCol="0">
            <a:spAutoFit/>
          </a:bodyPr>
          <a:lstStyle/>
          <a:p>
            <a:pPr marL="12700">
              <a:spcBef>
                <a:spcPts val="105"/>
              </a:spcBef>
            </a:pPr>
            <a:endParaRPr lang="en-US" sz="2000" dirty="0">
              <a:latin typeface="Times New Roman"/>
              <a:cs typeface="Times New Roman"/>
            </a:endParaRPr>
          </a:p>
          <a:p>
            <a:pPr marL="0" marR="0" lvl="0" indent="0" algn="l" defTabSz="914400" rtl="0" eaLnBrk="0" fontAlgn="base" latinLnBrk="0" hangingPunct="0">
              <a:lnSpc>
                <a:spcPct val="15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2700">
              <a:spcBef>
                <a:spcPts val="105"/>
              </a:spcBef>
            </a:pPr>
            <a:endParaRPr sz="2000" dirty="0">
              <a:latin typeface="Times New Roman"/>
              <a:cs typeface="Times New Roman"/>
            </a:endParaRPr>
          </a:p>
        </p:txBody>
      </p:sp>
      <p:pic>
        <p:nvPicPr>
          <p:cNvPr id="4" name="object 4"/>
          <p:cNvPicPr/>
          <p:nvPr/>
        </p:nvPicPr>
        <p:blipFill>
          <a:blip r:embed="rId2" cstate="print"/>
          <a:stretch>
            <a:fillRect/>
          </a:stretch>
        </p:blipFill>
        <p:spPr>
          <a:xfrm>
            <a:off x="914400" y="152400"/>
            <a:ext cx="10287000" cy="1586322"/>
          </a:xfrm>
          <a:prstGeom prst="rect">
            <a:avLst/>
          </a:prstGeom>
        </p:spPr>
      </p:pic>
      <p:sp>
        <p:nvSpPr>
          <p:cNvPr id="7" name="Rectangle 1">
            <a:extLst>
              <a:ext uri="{FF2B5EF4-FFF2-40B4-BE49-F238E27FC236}">
                <a16:creationId xmlns:a16="http://schemas.microsoft.com/office/drawing/2014/main" id="{256FF240-36DE-091D-E57C-63373D2AE952}"/>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C2ED1DF3-76BD-BD1A-0B15-CD32B4356C34}"/>
              </a:ext>
            </a:extLst>
          </p:cNvPr>
          <p:cNvSpPr txBox="1"/>
          <p:nvPr/>
        </p:nvSpPr>
        <p:spPr>
          <a:xfrm>
            <a:off x="914400" y="2209800"/>
            <a:ext cx="10363200" cy="830997"/>
          </a:xfrm>
          <a:prstGeom prst="rect">
            <a:avLst/>
          </a:prstGeom>
          <a:noFill/>
        </p:spPr>
        <p:txBody>
          <a:bodyPr wrap="square" rtlCol="0">
            <a:spAutoFit/>
          </a:bodyPr>
          <a:lstStyle/>
          <a:p>
            <a:r>
              <a:rPr lang="en-US" sz="2400" b="1" dirty="0">
                <a:solidFill>
                  <a:srgbClr val="FF0000"/>
                </a:solidFill>
                <a:latin typeface="Times New Roman" panose="02020603050405020304" pitchFamily="18" charset="0"/>
                <a:cs typeface="Times New Roman" panose="02020603050405020304" pitchFamily="18" charset="0"/>
              </a:rPr>
              <a:t>STUDENT SKILL EXCHANGE PLATFORM USING MACHINE LEARNING </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E2188F61-B60F-332F-1E3E-A6369A4D086F}"/>
              </a:ext>
            </a:extLst>
          </p:cNvPr>
          <p:cNvSpPr txBox="1"/>
          <p:nvPr/>
        </p:nvSpPr>
        <p:spPr>
          <a:xfrm>
            <a:off x="1143000" y="3352800"/>
            <a:ext cx="7772400" cy="2875146"/>
          </a:xfrm>
          <a:prstGeom prst="rect">
            <a:avLst/>
          </a:prstGeom>
          <a:noFill/>
        </p:spPr>
        <p:txBody>
          <a:bodyPr wrap="square" rtlCol="0">
            <a:spAutoFit/>
          </a:bodyPr>
          <a:lstStyle/>
          <a:p>
            <a:pPr marL="12700">
              <a:lnSpc>
                <a:spcPct val="100000"/>
              </a:lnSpc>
              <a:spcBef>
                <a:spcPts val="105"/>
              </a:spcBef>
            </a:pPr>
            <a:r>
              <a:rPr lang="en-IN" sz="1800" b="1" spc="-35" dirty="0">
                <a:latin typeface="Times New Roman"/>
                <a:cs typeface="Times New Roman"/>
              </a:rPr>
              <a:t>Team</a:t>
            </a:r>
            <a:r>
              <a:rPr lang="en-IN" sz="1800" b="1" spc="-65" dirty="0">
                <a:latin typeface="Times New Roman"/>
                <a:cs typeface="Times New Roman"/>
              </a:rPr>
              <a:t> </a:t>
            </a:r>
            <a:r>
              <a:rPr lang="en-IN" sz="1800" b="1" spc="-10" dirty="0">
                <a:latin typeface="Times New Roman"/>
                <a:cs typeface="Times New Roman"/>
              </a:rPr>
              <a:t>Members:</a:t>
            </a:r>
            <a:endParaRPr lang="en-IN" sz="1800" dirty="0">
              <a:latin typeface="Times New Roman"/>
              <a:cs typeface="Times New Roman"/>
            </a:endParaRPr>
          </a:p>
          <a:p>
            <a:pPr marL="1841500" marR="5080">
              <a:lnSpc>
                <a:spcPct val="100000"/>
              </a:lnSpc>
            </a:pPr>
            <a:r>
              <a:rPr lang="en-IN" sz="1800" spc="-10" dirty="0">
                <a:latin typeface="Times New Roman"/>
                <a:cs typeface="Times New Roman"/>
              </a:rPr>
              <a:t>Member-</a:t>
            </a:r>
            <a:r>
              <a:rPr lang="en-IN" sz="1800" dirty="0">
                <a:latin typeface="Times New Roman"/>
                <a:cs typeface="Times New Roman"/>
              </a:rPr>
              <a:t>1:CH.V.V.Vinay</a:t>
            </a:r>
            <a:r>
              <a:rPr lang="en-IN" sz="1800" spc="-10" dirty="0">
                <a:latin typeface="Times New Roman"/>
                <a:cs typeface="Times New Roman"/>
              </a:rPr>
              <a:t>(23395-CM-</a:t>
            </a:r>
            <a:r>
              <a:rPr lang="en-IN" sz="1800" spc="-20" dirty="0">
                <a:latin typeface="Times New Roman"/>
                <a:cs typeface="Times New Roman"/>
              </a:rPr>
              <a:t>009) </a:t>
            </a:r>
          </a:p>
          <a:p>
            <a:pPr marL="1841500" marR="5080">
              <a:lnSpc>
                <a:spcPct val="100000"/>
              </a:lnSpc>
            </a:pPr>
            <a:r>
              <a:rPr lang="en-IN" sz="1800" spc="-10" dirty="0">
                <a:latin typeface="Times New Roman"/>
                <a:cs typeface="Times New Roman"/>
              </a:rPr>
              <a:t>Member-</a:t>
            </a:r>
            <a:r>
              <a:rPr lang="en-IN" sz="1800" dirty="0">
                <a:latin typeface="Times New Roman"/>
                <a:cs typeface="Times New Roman"/>
              </a:rPr>
              <a:t>2:</a:t>
            </a:r>
            <a:r>
              <a:rPr lang="en-IN" sz="1800" spc="75" dirty="0">
                <a:latin typeface="Times New Roman"/>
                <a:cs typeface="Times New Roman"/>
              </a:rPr>
              <a:t>D.Sai Thanuja</a:t>
            </a:r>
            <a:r>
              <a:rPr lang="en-IN" sz="1800" spc="-10" dirty="0">
                <a:latin typeface="Times New Roman"/>
                <a:cs typeface="Times New Roman"/>
              </a:rPr>
              <a:t>(23395-CM-</a:t>
            </a:r>
            <a:r>
              <a:rPr lang="en-IN" sz="1800" spc="-20" dirty="0">
                <a:latin typeface="Times New Roman"/>
                <a:cs typeface="Times New Roman"/>
              </a:rPr>
              <a:t>013) </a:t>
            </a:r>
          </a:p>
          <a:p>
            <a:pPr marL="1841500" marR="5080">
              <a:lnSpc>
                <a:spcPct val="100000"/>
              </a:lnSpc>
            </a:pPr>
            <a:r>
              <a:rPr lang="en-IN" sz="1800" spc="-10" dirty="0">
                <a:latin typeface="Times New Roman"/>
                <a:cs typeface="Times New Roman"/>
              </a:rPr>
              <a:t>Member-</a:t>
            </a:r>
            <a:r>
              <a:rPr lang="en-IN" sz="1800" dirty="0">
                <a:latin typeface="Times New Roman"/>
                <a:cs typeface="Times New Roman"/>
              </a:rPr>
              <a:t>3:G.</a:t>
            </a:r>
            <a:r>
              <a:rPr lang="en-IN" sz="1800" spc="105" dirty="0">
                <a:latin typeface="Times New Roman"/>
                <a:cs typeface="Times New Roman"/>
              </a:rPr>
              <a:t>Venu Sankar</a:t>
            </a:r>
            <a:r>
              <a:rPr lang="en-IN" sz="1800" spc="-10" dirty="0">
                <a:latin typeface="Times New Roman"/>
                <a:cs typeface="Times New Roman"/>
              </a:rPr>
              <a:t>(23395-CM-</a:t>
            </a:r>
            <a:r>
              <a:rPr lang="en-IN" sz="1800" spc="-20" dirty="0">
                <a:latin typeface="Times New Roman"/>
                <a:cs typeface="Times New Roman"/>
              </a:rPr>
              <a:t>018) </a:t>
            </a:r>
          </a:p>
          <a:p>
            <a:pPr marL="1841500" marR="5080">
              <a:lnSpc>
                <a:spcPct val="100000"/>
              </a:lnSpc>
            </a:pPr>
            <a:r>
              <a:rPr lang="en-IN" sz="1800" spc="-10" dirty="0">
                <a:latin typeface="Times New Roman"/>
                <a:cs typeface="Times New Roman"/>
              </a:rPr>
              <a:t>Member-</a:t>
            </a:r>
            <a:r>
              <a:rPr lang="en-IN" sz="1800" dirty="0">
                <a:latin typeface="Times New Roman"/>
                <a:cs typeface="Times New Roman"/>
              </a:rPr>
              <a:t>4:</a:t>
            </a:r>
            <a:r>
              <a:rPr lang="en-IN" sz="1800" spc="25" dirty="0">
                <a:latin typeface="Times New Roman"/>
                <a:cs typeface="Times New Roman"/>
              </a:rPr>
              <a:t>K.Mahima Jyothi</a:t>
            </a:r>
            <a:r>
              <a:rPr lang="en-IN" sz="1800" spc="-10" dirty="0">
                <a:latin typeface="Times New Roman"/>
                <a:cs typeface="Times New Roman"/>
              </a:rPr>
              <a:t>(23395-CM-</a:t>
            </a:r>
            <a:r>
              <a:rPr lang="en-IN" sz="1800" spc="-20" dirty="0">
                <a:latin typeface="Times New Roman"/>
                <a:cs typeface="Times New Roman"/>
              </a:rPr>
              <a:t>023)</a:t>
            </a:r>
          </a:p>
          <a:p>
            <a:pPr marL="1841500" marR="5080">
              <a:lnSpc>
                <a:spcPct val="100000"/>
              </a:lnSpc>
            </a:pPr>
            <a:r>
              <a:rPr lang="en-IN" sz="1800" spc="-10" dirty="0">
                <a:latin typeface="Times New Roman"/>
                <a:cs typeface="Times New Roman"/>
              </a:rPr>
              <a:t>Member-</a:t>
            </a:r>
            <a:r>
              <a:rPr lang="en-IN" sz="1800" dirty="0">
                <a:latin typeface="Times New Roman"/>
                <a:cs typeface="Times New Roman"/>
              </a:rPr>
              <a:t>5:Jagan Mohan</a:t>
            </a:r>
            <a:r>
              <a:rPr lang="en-IN" sz="1800" spc="-25" dirty="0">
                <a:latin typeface="Times New Roman"/>
                <a:cs typeface="Times New Roman"/>
              </a:rPr>
              <a:t>(23395-</a:t>
            </a:r>
            <a:r>
              <a:rPr lang="en-IN" sz="1800" spc="-10" dirty="0">
                <a:latin typeface="Times New Roman"/>
                <a:cs typeface="Times New Roman"/>
              </a:rPr>
              <a:t>CM-</a:t>
            </a:r>
            <a:r>
              <a:rPr lang="en-IN" sz="1800" spc="-20" dirty="0">
                <a:latin typeface="Times New Roman"/>
                <a:cs typeface="Times New Roman"/>
              </a:rPr>
              <a:t>032)</a:t>
            </a:r>
          </a:p>
          <a:p>
            <a:pPr marL="1841500" marR="5080">
              <a:lnSpc>
                <a:spcPct val="100000"/>
              </a:lnSpc>
            </a:pPr>
            <a:r>
              <a:rPr lang="en-IN" sz="1800" spc="-10" dirty="0">
                <a:latin typeface="Times New Roman"/>
                <a:cs typeface="Times New Roman"/>
              </a:rPr>
              <a:t>Member-</a:t>
            </a:r>
            <a:r>
              <a:rPr lang="en-IN" sz="1800" dirty="0">
                <a:latin typeface="Times New Roman"/>
                <a:cs typeface="Times New Roman"/>
              </a:rPr>
              <a:t>6:</a:t>
            </a:r>
            <a:r>
              <a:rPr lang="en-IN" sz="1800" spc="500" dirty="0">
                <a:latin typeface="Times New Roman"/>
                <a:cs typeface="Times New Roman"/>
              </a:rPr>
              <a:t>P.Sai</a:t>
            </a:r>
            <a:r>
              <a:rPr lang="en-IN" sz="1800" spc="-10" dirty="0">
                <a:latin typeface="Times New Roman"/>
                <a:cs typeface="Times New Roman"/>
              </a:rPr>
              <a:t>(23395-CM-</a:t>
            </a:r>
            <a:r>
              <a:rPr lang="en-IN" sz="1800" spc="-20" dirty="0">
                <a:latin typeface="Times New Roman"/>
                <a:cs typeface="Times New Roman"/>
              </a:rPr>
              <a:t>044) </a:t>
            </a:r>
          </a:p>
          <a:p>
            <a:pPr marL="1841500" marR="5080">
              <a:lnSpc>
                <a:spcPct val="100000"/>
              </a:lnSpc>
            </a:pPr>
            <a:r>
              <a:rPr lang="en-IN" sz="1800" spc="-10" dirty="0">
                <a:latin typeface="Times New Roman"/>
                <a:cs typeface="Times New Roman"/>
              </a:rPr>
              <a:t>Member-</a:t>
            </a:r>
            <a:r>
              <a:rPr lang="en-IN" sz="1800" dirty="0">
                <a:latin typeface="Times New Roman"/>
                <a:cs typeface="Times New Roman"/>
              </a:rPr>
              <a:t>7:</a:t>
            </a:r>
            <a:r>
              <a:rPr lang="en-IN" sz="1800" spc="35" dirty="0">
                <a:latin typeface="Times New Roman"/>
                <a:cs typeface="Times New Roman"/>
              </a:rPr>
              <a:t>R.Rechal Kusuma</a:t>
            </a:r>
            <a:r>
              <a:rPr lang="en-IN" sz="1800" spc="-10" dirty="0">
                <a:latin typeface="Times New Roman"/>
                <a:cs typeface="Times New Roman"/>
              </a:rPr>
              <a:t>(23395-CM-</a:t>
            </a:r>
            <a:r>
              <a:rPr lang="en-IN" sz="1800" spc="-20" dirty="0">
                <a:latin typeface="Times New Roman"/>
                <a:cs typeface="Times New Roman"/>
              </a:rPr>
              <a:t>052)</a:t>
            </a:r>
            <a:endParaRPr lang="en-IN" sz="1800" dirty="0">
              <a:latin typeface="Times New Roman"/>
              <a:cs typeface="Times New Roman"/>
            </a:endParaRPr>
          </a:p>
          <a:p>
            <a:pPr>
              <a:lnSpc>
                <a:spcPct val="100000"/>
              </a:lnSpc>
              <a:spcBef>
                <a:spcPts val="100"/>
              </a:spcBef>
            </a:pPr>
            <a:endParaRPr lang="en-IN" sz="1800" dirty="0">
              <a:latin typeface="Times New Roman"/>
              <a:cs typeface="Times New Roman"/>
            </a:endParaRPr>
          </a:p>
          <a:p>
            <a:pPr marL="12700">
              <a:lnSpc>
                <a:spcPct val="100000"/>
              </a:lnSpc>
              <a:spcBef>
                <a:spcPts val="5"/>
              </a:spcBef>
              <a:tabLst>
                <a:tab pos="1840864" algn="l"/>
              </a:tabLst>
            </a:pPr>
            <a:r>
              <a:rPr lang="en-IN" sz="1800" b="1" dirty="0">
                <a:latin typeface="Times New Roman"/>
                <a:cs typeface="Times New Roman"/>
              </a:rPr>
              <a:t>Guide</a:t>
            </a:r>
            <a:r>
              <a:rPr lang="en-IN" sz="1800" b="1" spc="-25" dirty="0">
                <a:latin typeface="Times New Roman"/>
                <a:cs typeface="Times New Roman"/>
              </a:rPr>
              <a:t> </a:t>
            </a:r>
            <a:r>
              <a:rPr lang="en-IN" sz="1800" b="1" spc="-10" dirty="0">
                <a:latin typeface="Times New Roman"/>
                <a:cs typeface="Times New Roman"/>
              </a:rPr>
              <a:t>Name:</a:t>
            </a:r>
            <a:r>
              <a:rPr lang="en-IN" sz="1800" b="1" dirty="0">
                <a:latin typeface="Times New Roman"/>
                <a:cs typeface="Times New Roman"/>
              </a:rPr>
              <a:t>	</a:t>
            </a:r>
            <a:r>
              <a:rPr lang="en-IN" sz="1800" dirty="0">
                <a:latin typeface="Times New Roman"/>
                <a:cs typeface="Times New Roman"/>
              </a:rPr>
              <a:t>CH.</a:t>
            </a:r>
            <a:r>
              <a:rPr lang="en-IN" sz="1800" spc="-35" dirty="0">
                <a:latin typeface="Times New Roman"/>
                <a:cs typeface="Times New Roman"/>
              </a:rPr>
              <a:t> </a:t>
            </a:r>
            <a:r>
              <a:rPr lang="en-IN" sz="1800" spc="-10" dirty="0">
                <a:latin typeface="Times New Roman"/>
                <a:cs typeface="Times New Roman"/>
              </a:rPr>
              <a:t>Gopal Krishna</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38200" y="533400"/>
            <a:ext cx="8915400" cy="5245667"/>
          </a:xfrm>
          <a:prstGeom prst="rect">
            <a:avLst/>
          </a:prstGeom>
        </p:spPr>
        <p:txBody>
          <a:bodyPr vert="horz" wrap="square" lIns="0" tIns="13335" rIns="0" bIns="0" rtlCol="0">
            <a:spAutoFit/>
          </a:bodyPr>
          <a:lstStyle/>
          <a:p>
            <a:pPr marL="202565" indent="-193675">
              <a:spcBef>
                <a:spcPts val="105"/>
              </a:spcBef>
              <a:buSzPct val="95000"/>
              <a:buFont typeface="Times New Roman"/>
              <a:buAutoNum type="arabicPeriod"/>
              <a:tabLst>
                <a:tab pos="202565" algn="l"/>
              </a:tabLst>
            </a:pPr>
            <a:r>
              <a:rPr lang="en-US" sz="2000" spc="-10" dirty="0">
                <a:latin typeface="Times New Roman"/>
                <a:cs typeface="Times New Roman"/>
              </a:rPr>
              <a:t>Introduction</a:t>
            </a:r>
            <a:endParaRPr lang="en-US" sz="2000" dirty="0">
              <a:latin typeface="Times New Roman"/>
              <a:cs typeface="Times New Roman"/>
            </a:endParaRPr>
          </a:p>
          <a:p>
            <a:pPr marL="202565" indent="-193675">
              <a:buSzPct val="95000"/>
              <a:buAutoNum type="arabicPeriod"/>
              <a:tabLst>
                <a:tab pos="202565" algn="l"/>
              </a:tabLst>
            </a:pPr>
            <a:r>
              <a:rPr lang="en-US" sz="2000" dirty="0">
                <a:latin typeface="Times New Roman"/>
                <a:cs typeface="Times New Roman"/>
              </a:rPr>
              <a:t>Project</a:t>
            </a:r>
            <a:r>
              <a:rPr lang="en-US" sz="2000" spc="-30" dirty="0">
                <a:latin typeface="Times New Roman"/>
                <a:cs typeface="Times New Roman"/>
              </a:rPr>
              <a:t> </a:t>
            </a:r>
            <a:r>
              <a:rPr lang="en-US" sz="2000" spc="-10" dirty="0">
                <a:latin typeface="Times New Roman"/>
                <a:cs typeface="Times New Roman"/>
              </a:rPr>
              <a:t>Overview</a:t>
            </a:r>
            <a:endParaRPr lang="en-US" sz="2000" dirty="0">
              <a:latin typeface="Times New Roman"/>
              <a:cs typeface="Times New Roman"/>
            </a:endParaRPr>
          </a:p>
          <a:p>
            <a:pPr marL="202565" indent="-193675">
              <a:buSzPct val="95000"/>
              <a:buAutoNum type="arabicPeriod"/>
              <a:tabLst>
                <a:tab pos="202565" algn="l"/>
              </a:tabLst>
            </a:pPr>
            <a:r>
              <a:rPr lang="en-US" sz="2000" dirty="0">
                <a:latin typeface="Times New Roman"/>
                <a:cs typeface="Times New Roman"/>
              </a:rPr>
              <a:t>Problem</a:t>
            </a:r>
            <a:r>
              <a:rPr lang="en-US" sz="2000" spc="-25" dirty="0">
                <a:latin typeface="Times New Roman"/>
                <a:cs typeface="Times New Roman"/>
              </a:rPr>
              <a:t> </a:t>
            </a:r>
            <a:r>
              <a:rPr lang="en-US" sz="2000" spc="-10" dirty="0">
                <a:latin typeface="Times New Roman"/>
                <a:cs typeface="Times New Roman"/>
              </a:rPr>
              <a:t>Statement</a:t>
            </a:r>
            <a:endParaRPr lang="en-US" sz="2000" dirty="0">
              <a:latin typeface="Times New Roman"/>
              <a:cs typeface="Times New Roman"/>
            </a:endParaRPr>
          </a:p>
          <a:p>
            <a:pPr marL="202565" indent="-193675">
              <a:buSzPct val="95000"/>
              <a:buAutoNum type="arabicPeriod"/>
              <a:tabLst>
                <a:tab pos="202565" algn="l"/>
              </a:tabLst>
            </a:pPr>
            <a:r>
              <a:rPr lang="en-US" sz="2000" spc="-10" dirty="0">
                <a:latin typeface="Times New Roman"/>
                <a:cs typeface="Times New Roman"/>
              </a:rPr>
              <a:t>Objectives</a:t>
            </a:r>
            <a:endParaRPr lang="en-US" sz="2000" dirty="0">
              <a:latin typeface="Times New Roman"/>
              <a:cs typeface="Times New Roman"/>
            </a:endParaRPr>
          </a:p>
          <a:p>
            <a:pPr marL="201930" indent="-193675">
              <a:buSzPct val="95000"/>
              <a:buAutoNum type="arabicPeriod"/>
              <a:tabLst>
                <a:tab pos="201930" algn="l"/>
              </a:tabLst>
            </a:pPr>
            <a:r>
              <a:rPr lang="en-US" sz="2000" dirty="0">
                <a:latin typeface="Times New Roman"/>
                <a:cs typeface="Times New Roman"/>
              </a:rPr>
              <a:t>Literature</a:t>
            </a:r>
            <a:r>
              <a:rPr lang="en-US" sz="2000" spc="-50" dirty="0">
                <a:latin typeface="Times New Roman"/>
                <a:cs typeface="Times New Roman"/>
              </a:rPr>
              <a:t> </a:t>
            </a:r>
            <a:r>
              <a:rPr lang="en-US" sz="2000" spc="-10" dirty="0">
                <a:latin typeface="Times New Roman"/>
                <a:cs typeface="Times New Roman"/>
              </a:rPr>
              <a:t>Survey</a:t>
            </a:r>
            <a:endParaRPr lang="en-US" sz="2000" dirty="0">
              <a:latin typeface="Times New Roman"/>
              <a:cs typeface="Times New Roman"/>
            </a:endParaRPr>
          </a:p>
          <a:p>
            <a:pPr marL="202565" indent="-193675">
              <a:buSzPct val="95000"/>
              <a:buAutoNum type="arabicPeriod"/>
              <a:tabLst>
                <a:tab pos="202565" algn="l"/>
              </a:tabLst>
            </a:pPr>
            <a:r>
              <a:rPr lang="en-US" sz="2000" dirty="0">
                <a:latin typeface="Times New Roman"/>
                <a:cs typeface="Times New Roman"/>
              </a:rPr>
              <a:t>Limitations of</a:t>
            </a:r>
            <a:r>
              <a:rPr lang="en-US" sz="2000" spc="5" dirty="0">
                <a:latin typeface="Times New Roman"/>
                <a:cs typeface="Times New Roman"/>
              </a:rPr>
              <a:t> </a:t>
            </a:r>
            <a:r>
              <a:rPr lang="en-US" sz="2000" spc="-10" dirty="0">
                <a:latin typeface="Times New Roman"/>
                <a:cs typeface="Times New Roman"/>
              </a:rPr>
              <a:t>Existing</a:t>
            </a:r>
            <a:r>
              <a:rPr lang="en-US" sz="2000" spc="-114" dirty="0">
                <a:latin typeface="Times New Roman"/>
                <a:cs typeface="Times New Roman"/>
              </a:rPr>
              <a:t> </a:t>
            </a:r>
            <a:r>
              <a:rPr lang="en-US" sz="2000" spc="-10" dirty="0">
                <a:latin typeface="Times New Roman"/>
                <a:cs typeface="Times New Roman"/>
              </a:rPr>
              <a:t>Approaches</a:t>
            </a:r>
            <a:endParaRPr lang="en-US" sz="2000" dirty="0">
              <a:latin typeface="Times New Roman"/>
              <a:cs typeface="Times New Roman"/>
            </a:endParaRPr>
          </a:p>
          <a:p>
            <a:pPr marL="202565" indent="-193675">
              <a:buSzPct val="95000"/>
              <a:buAutoNum type="arabicPeriod"/>
              <a:tabLst>
                <a:tab pos="202565" algn="l"/>
              </a:tabLst>
            </a:pPr>
            <a:r>
              <a:rPr lang="en-US" sz="2000" dirty="0">
                <a:latin typeface="Times New Roman"/>
                <a:cs typeface="Times New Roman"/>
              </a:rPr>
              <a:t>Proposed</a:t>
            </a:r>
            <a:r>
              <a:rPr lang="en-US" sz="2000" spc="-30" dirty="0">
                <a:latin typeface="Times New Roman"/>
                <a:cs typeface="Times New Roman"/>
              </a:rPr>
              <a:t> </a:t>
            </a:r>
            <a:r>
              <a:rPr lang="en-US" sz="2000" spc="-10" dirty="0">
                <a:latin typeface="Times New Roman"/>
                <a:cs typeface="Times New Roman"/>
              </a:rPr>
              <a:t>System</a:t>
            </a:r>
            <a:endParaRPr lang="en-US" sz="2000" dirty="0">
              <a:latin typeface="Times New Roman"/>
              <a:cs typeface="Times New Roman"/>
            </a:endParaRPr>
          </a:p>
          <a:p>
            <a:pPr marL="202565" indent="-193675">
              <a:buSzPct val="95000"/>
              <a:buAutoNum type="arabicPeriod"/>
              <a:tabLst>
                <a:tab pos="202565" algn="l"/>
              </a:tabLst>
            </a:pPr>
            <a:r>
              <a:rPr lang="en-US" sz="2000" dirty="0">
                <a:latin typeface="Times New Roman"/>
                <a:cs typeface="Times New Roman"/>
              </a:rPr>
              <a:t>System</a:t>
            </a:r>
            <a:r>
              <a:rPr lang="en-US" sz="2000" spc="-125" dirty="0">
                <a:latin typeface="Times New Roman"/>
                <a:cs typeface="Times New Roman"/>
              </a:rPr>
              <a:t> </a:t>
            </a:r>
            <a:r>
              <a:rPr lang="en-US" sz="2000" spc="-10" dirty="0">
                <a:latin typeface="Times New Roman"/>
                <a:cs typeface="Times New Roman"/>
              </a:rPr>
              <a:t>Architecture</a:t>
            </a:r>
            <a:endParaRPr lang="en-US" sz="2000" dirty="0">
              <a:latin typeface="Times New Roman"/>
              <a:cs typeface="Times New Roman"/>
            </a:endParaRPr>
          </a:p>
          <a:p>
            <a:pPr marL="202565" indent="-193675">
              <a:buSzPct val="95000"/>
              <a:buAutoNum type="arabicPeriod"/>
              <a:tabLst>
                <a:tab pos="202565" algn="l"/>
              </a:tabLst>
            </a:pPr>
            <a:r>
              <a:rPr lang="en-US" sz="2000" spc="-10" dirty="0">
                <a:latin typeface="Times New Roman"/>
                <a:cs typeface="Times New Roman"/>
              </a:rPr>
              <a:t>Step-by-</a:t>
            </a:r>
            <a:r>
              <a:rPr lang="en-US" sz="2000" dirty="0">
                <a:latin typeface="Times New Roman"/>
                <a:cs typeface="Times New Roman"/>
              </a:rPr>
              <a:t>Step</a:t>
            </a:r>
            <a:r>
              <a:rPr lang="en-US" sz="2000" spc="-40" dirty="0">
                <a:latin typeface="Times New Roman"/>
                <a:cs typeface="Times New Roman"/>
              </a:rPr>
              <a:t> </a:t>
            </a:r>
            <a:r>
              <a:rPr lang="en-US" sz="2000" spc="-10" dirty="0">
                <a:latin typeface="Times New Roman"/>
                <a:cs typeface="Times New Roman"/>
              </a:rPr>
              <a:t>Working</a:t>
            </a:r>
            <a:endParaRPr lang="en-US" sz="2000" dirty="0">
              <a:latin typeface="Times New Roman"/>
              <a:cs typeface="Times New Roman"/>
            </a:endParaRPr>
          </a:p>
          <a:p>
            <a:pPr marL="329565" indent="-316865">
              <a:buSzPct val="95000"/>
              <a:buAutoNum type="arabicPeriod"/>
              <a:tabLst>
                <a:tab pos="329565" algn="l"/>
              </a:tabLst>
            </a:pPr>
            <a:r>
              <a:rPr lang="en-US" sz="2000" dirty="0">
                <a:latin typeface="Times New Roman"/>
                <a:cs typeface="Times New Roman"/>
              </a:rPr>
              <a:t>Algorithm</a:t>
            </a:r>
            <a:r>
              <a:rPr lang="en-US" sz="2000" spc="-45" dirty="0">
                <a:latin typeface="Times New Roman"/>
                <a:cs typeface="Times New Roman"/>
              </a:rPr>
              <a:t> </a:t>
            </a:r>
            <a:r>
              <a:rPr lang="en-US" sz="2000" spc="-20" dirty="0">
                <a:latin typeface="Times New Roman"/>
                <a:cs typeface="Times New Roman"/>
              </a:rPr>
              <a:t>Used</a:t>
            </a:r>
            <a:endParaRPr lang="en-US" sz="2000" dirty="0">
              <a:latin typeface="Times New Roman"/>
              <a:cs typeface="Times New Roman"/>
            </a:endParaRPr>
          </a:p>
          <a:p>
            <a:pPr marL="329565" indent="-316865">
              <a:buSzPct val="95000"/>
              <a:buAutoNum type="arabicPeriod"/>
              <a:tabLst>
                <a:tab pos="329565" algn="l"/>
              </a:tabLst>
            </a:pPr>
            <a:r>
              <a:rPr lang="en-US" sz="2000" spc="-20" dirty="0">
                <a:latin typeface="Times New Roman"/>
                <a:cs typeface="Times New Roman"/>
              </a:rPr>
              <a:t>Tools</a:t>
            </a:r>
            <a:r>
              <a:rPr lang="en-US" sz="2000" spc="-50" dirty="0">
                <a:latin typeface="Times New Roman"/>
                <a:cs typeface="Times New Roman"/>
              </a:rPr>
              <a:t> </a:t>
            </a:r>
            <a:r>
              <a:rPr lang="en-US" sz="2000" dirty="0">
                <a:latin typeface="Times New Roman"/>
                <a:cs typeface="Times New Roman"/>
              </a:rPr>
              <a:t>&amp;</a:t>
            </a:r>
            <a:r>
              <a:rPr lang="en-US" sz="2000" spc="-65" dirty="0">
                <a:latin typeface="Times New Roman"/>
                <a:cs typeface="Times New Roman"/>
              </a:rPr>
              <a:t> </a:t>
            </a:r>
            <a:r>
              <a:rPr lang="en-US" sz="2000" spc="-10" dirty="0">
                <a:latin typeface="Times New Roman"/>
                <a:cs typeface="Times New Roman"/>
              </a:rPr>
              <a:t>Technologies</a:t>
            </a:r>
            <a:endParaRPr lang="en-US" sz="2000" dirty="0">
              <a:latin typeface="Times New Roman"/>
              <a:cs typeface="Times New Roman"/>
            </a:endParaRPr>
          </a:p>
          <a:p>
            <a:pPr marL="329565" indent="-316865">
              <a:spcBef>
                <a:spcPts val="5"/>
              </a:spcBef>
              <a:buSzPct val="95000"/>
              <a:buAutoNum type="arabicPeriod"/>
              <a:tabLst>
                <a:tab pos="329565" algn="l"/>
              </a:tabLst>
            </a:pPr>
            <a:r>
              <a:rPr lang="en-US" sz="2000" dirty="0">
                <a:latin typeface="Times New Roman"/>
                <a:cs typeface="Times New Roman"/>
              </a:rPr>
              <a:t>Results</a:t>
            </a:r>
          </a:p>
          <a:p>
            <a:pPr marL="329565" indent="-316865">
              <a:buSzPct val="95000"/>
              <a:buAutoNum type="arabicPeriod"/>
              <a:tabLst>
                <a:tab pos="329565" algn="l"/>
              </a:tabLst>
            </a:pPr>
            <a:r>
              <a:rPr lang="en-US" sz="2000" dirty="0">
                <a:latin typeface="Times New Roman"/>
                <a:cs typeface="Times New Roman"/>
              </a:rPr>
              <a:t>Advantages</a:t>
            </a:r>
            <a:r>
              <a:rPr lang="en-US" sz="2000" spc="-55" dirty="0">
                <a:latin typeface="Times New Roman"/>
                <a:cs typeface="Times New Roman"/>
              </a:rPr>
              <a:t> </a:t>
            </a:r>
            <a:r>
              <a:rPr lang="en-US" sz="2000" dirty="0">
                <a:latin typeface="Times New Roman"/>
                <a:cs typeface="Times New Roman"/>
              </a:rPr>
              <a:t>and</a:t>
            </a:r>
            <a:r>
              <a:rPr lang="en-US" sz="2000" spc="-30" dirty="0">
                <a:latin typeface="Times New Roman"/>
                <a:cs typeface="Times New Roman"/>
              </a:rPr>
              <a:t> </a:t>
            </a:r>
            <a:r>
              <a:rPr lang="en-US" sz="2000" spc="-10" dirty="0">
                <a:latin typeface="Times New Roman"/>
                <a:cs typeface="Times New Roman"/>
              </a:rPr>
              <a:t>Disadvantages</a:t>
            </a:r>
            <a:endParaRPr lang="en-US" sz="2000" dirty="0">
              <a:latin typeface="Times New Roman"/>
              <a:cs typeface="Times New Roman"/>
            </a:endParaRPr>
          </a:p>
          <a:p>
            <a:pPr marL="329565" indent="-316865">
              <a:buSzPct val="95000"/>
              <a:buAutoNum type="arabicPeriod"/>
              <a:tabLst>
                <a:tab pos="329565" algn="l"/>
              </a:tabLst>
            </a:pPr>
            <a:r>
              <a:rPr lang="en-US" sz="2000" dirty="0">
                <a:latin typeface="Times New Roman"/>
                <a:cs typeface="Times New Roman"/>
              </a:rPr>
              <a:t>Future</a:t>
            </a:r>
            <a:r>
              <a:rPr lang="en-US" sz="2000" spc="-25" dirty="0">
                <a:latin typeface="Times New Roman"/>
                <a:cs typeface="Times New Roman"/>
              </a:rPr>
              <a:t> </a:t>
            </a:r>
            <a:r>
              <a:rPr lang="en-US" sz="2000" spc="-20" dirty="0">
                <a:latin typeface="Times New Roman"/>
                <a:cs typeface="Times New Roman"/>
              </a:rPr>
              <a:t>Scope</a:t>
            </a:r>
            <a:endParaRPr lang="en-US" sz="2000" dirty="0">
              <a:latin typeface="Times New Roman"/>
              <a:cs typeface="Times New Roman"/>
            </a:endParaRPr>
          </a:p>
          <a:p>
            <a:pPr marL="329565" indent="-316865">
              <a:buSzPct val="95000"/>
              <a:buAutoNum type="arabicPeriod"/>
              <a:tabLst>
                <a:tab pos="329565" algn="l"/>
              </a:tabLst>
            </a:pPr>
            <a:r>
              <a:rPr lang="en-US" sz="2000" spc="-10" dirty="0">
                <a:latin typeface="Times New Roman"/>
                <a:cs typeface="Times New Roman"/>
              </a:rPr>
              <a:t>Conclusion</a:t>
            </a:r>
            <a:endParaRPr lang="en-US" sz="2000" dirty="0">
              <a:latin typeface="Times New Roman" panose="02020603050405020304" pitchFamily="18" charset="0"/>
              <a:cs typeface="Times New Roman" panose="02020603050405020304" pitchFamily="18" charset="0"/>
            </a:endParaRPr>
          </a:p>
          <a:p>
            <a:pPr marL="329565" indent="-316865">
              <a:buSzPct val="95000"/>
              <a:buAutoNum type="arabicPeriod"/>
              <a:tabLst>
                <a:tab pos="329565" algn="l"/>
              </a:tabLst>
            </a:pPr>
            <a:endParaRPr lang="en-US" sz="2000" dirty="0">
              <a:latin typeface="Times New Roman"/>
              <a:cs typeface="Times New Roman"/>
            </a:endParaRPr>
          </a:p>
          <a:p>
            <a:pPr marL="329565" indent="-316865">
              <a:buSzPct val="95000"/>
              <a:buAutoNum type="arabicPeriod"/>
              <a:tabLst>
                <a:tab pos="329565" algn="l"/>
              </a:tabLst>
            </a:pPr>
            <a:endParaRPr lang="en-US" sz="2000" dirty="0">
              <a:latin typeface="Times New Roman"/>
              <a:cs typeface="Times New Roman"/>
            </a:endParaRPr>
          </a:p>
        </p:txBody>
      </p:sp>
      <p:sp>
        <p:nvSpPr>
          <p:cNvPr id="3" name="object 3"/>
          <p:cNvSpPr txBox="1">
            <a:spLocks noGrp="1"/>
          </p:cNvSpPr>
          <p:nvPr>
            <p:ph type="title"/>
          </p:nvPr>
        </p:nvSpPr>
        <p:spPr>
          <a:xfrm>
            <a:off x="613968" y="75133"/>
            <a:ext cx="1978025" cy="452120"/>
          </a:xfrm>
          <a:prstGeom prst="rect">
            <a:avLst/>
          </a:prstGeom>
        </p:spPr>
        <p:txBody>
          <a:bodyPr vert="horz" wrap="square" lIns="0" tIns="12065" rIns="0" bIns="0" rtlCol="0">
            <a:spAutoFit/>
          </a:bodyPr>
          <a:lstStyle/>
          <a:p>
            <a:pPr marL="12700">
              <a:lnSpc>
                <a:spcPct val="100000"/>
              </a:lnSpc>
              <a:spcBef>
                <a:spcPts val="95"/>
              </a:spcBef>
            </a:pPr>
            <a:r>
              <a:rPr spc="-10" dirty="0"/>
              <a:t>CONTENTS</a:t>
            </a:r>
          </a:p>
        </p:txBody>
      </p:sp>
      <p:pic>
        <p:nvPicPr>
          <p:cNvPr id="4" name="object 4">
            <a:extLst>
              <a:ext uri="{FF2B5EF4-FFF2-40B4-BE49-F238E27FC236}">
                <a16:creationId xmlns:a16="http://schemas.microsoft.com/office/drawing/2014/main" id="{3FFF8192-27E5-D727-B3A1-65C83194651E}"/>
              </a:ext>
            </a:extLst>
          </p:cNvPr>
          <p:cNvPicPr/>
          <p:nvPr/>
        </p:nvPicPr>
        <p:blipFill>
          <a:blip r:embed="rId2" cstate="print"/>
          <a:stretch>
            <a:fillRect/>
          </a:stretch>
        </p:blipFill>
        <p:spPr>
          <a:xfrm>
            <a:off x="9829800" y="152400"/>
            <a:ext cx="2057400" cy="914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0D2B6F0-8CCF-3BA6-FC3C-8D4F1F30B55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91C76D7-0761-AAF5-A7E0-65342B9083AA}"/>
              </a:ext>
            </a:extLst>
          </p:cNvPr>
          <p:cNvSpPr txBox="1"/>
          <p:nvPr/>
        </p:nvSpPr>
        <p:spPr>
          <a:xfrm>
            <a:off x="263448" y="1136396"/>
            <a:ext cx="11760835" cy="5917004"/>
          </a:xfrm>
          <a:prstGeom prst="rect">
            <a:avLst/>
          </a:prstGeom>
        </p:spPr>
        <p:txBody>
          <a:bodyPr vert="horz" wrap="square" lIns="0" tIns="12700" rIns="0" bIns="0" rtlCol="0">
            <a:spAutoFit/>
          </a:bodyPr>
          <a:lstStyle/>
          <a:p>
            <a:pPr marL="342900" indent="-342900">
              <a:lnSpc>
                <a:spcPct val="150000"/>
              </a:lnSpc>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12700" marR="5080" algn="just">
              <a:lnSpc>
                <a:spcPct val="100000"/>
              </a:lnSpc>
              <a:spcBef>
                <a:spcPts val="100"/>
              </a:spcBef>
            </a:pPr>
            <a:endParaRPr lang="en-US" sz="2400" dirty="0">
              <a:latin typeface="Times New Roman"/>
              <a:cs typeface="Times New Roman"/>
            </a:endParaRPr>
          </a:p>
          <a:p>
            <a:pPr marL="12700" marR="5080" algn="just">
              <a:lnSpc>
                <a:spcPct val="100000"/>
              </a:lnSpc>
              <a:spcBef>
                <a:spcPts val="100"/>
              </a:spcBef>
            </a:pPr>
            <a:endParaRPr lang="en-IN" sz="2400" dirty="0">
              <a:latin typeface="Times New Roman"/>
              <a:cs typeface="Times New Roman"/>
            </a:endParaRPr>
          </a:p>
          <a:p>
            <a:pPr marL="12700" marR="5080" algn="just">
              <a:lnSpc>
                <a:spcPct val="100000"/>
              </a:lnSpc>
              <a:spcBef>
                <a:spcPts val="100"/>
              </a:spcBef>
            </a:pPr>
            <a:endParaRPr lang="en-IN" sz="2400" dirty="0">
              <a:latin typeface="Times New Roman"/>
              <a:cs typeface="Times New Roman"/>
            </a:endParaRPr>
          </a:p>
          <a:p>
            <a:pPr marL="12700" marR="5080" algn="just">
              <a:lnSpc>
                <a:spcPct val="100000"/>
              </a:lnSpc>
              <a:spcBef>
                <a:spcPts val="100"/>
              </a:spcBef>
            </a:pPr>
            <a:endParaRPr lang="en-IN" sz="2400" dirty="0">
              <a:latin typeface="Times New Roman"/>
              <a:cs typeface="Times New Roman"/>
            </a:endParaRPr>
          </a:p>
          <a:p>
            <a:pPr marL="12700" marR="5080" algn="just">
              <a:lnSpc>
                <a:spcPct val="100000"/>
              </a:lnSpc>
              <a:spcBef>
                <a:spcPts val="100"/>
              </a:spcBef>
            </a:pPr>
            <a:endParaRPr lang="en-IN" sz="2400" dirty="0">
              <a:latin typeface="Times New Roman"/>
              <a:cs typeface="Times New Roman"/>
            </a:endParaRPr>
          </a:p>
          <a:p>
            <a:pPr marL="12700" marR="5080" algn="just">
              <a:lnSpc>
                <a:spcPct val="100000"/>
              </a:lnSpc>
              <a:spcBef>
                <a:spcPts val="100"/>
              </a:spcBef>
            </a:pPr>
            <a:endParaRPr lang="en-IN" sz="2400" dirty="0">
              <a:latin typeface="Times New Roman"/>
              <a:cs typeface="Times New Roman"/>
            </a:endParaRPr>
          </a:p>
          <a:p>
            <a:pPr marL="12700" marR="5080" algn="just">
              <a:lnSpc>
                <a:spcPct val="100000"/>
              </a:lnSpc>
              <a:spcBef>
                <a:spcPts val="100"/>
              </a:spcBef>
            </a:pPr>
            <a:endParaRPr lang="en-IN" sz="2400" dirty="0">
              <a:latin typeface="Times New Roman"/>
              <a:cs typeface="Times New Roman"/>
            </a:endParaRPr>
          </a:p>
          <a:p>
            <a:pPr marL="12700" marR="5080" algn="just">
              <a:lnSpc>
                <a:spcPct val="100000"/>
              </a:lnSpc>
              <a:spcBef>
                <a:spcPts val="100"/>
              </a:spcBef>
            </a:pPr>
            <a:endParaRPr lang="en-IN" sz="2400" dirty="0">
              <a:latin typeface="Times New Roman"/>
              <a:cs typeface="Times New Roman"/>
            </a:endParaRPr>
          </a:p>
          <a:p>
            <a:pPr marL="12700" marR="5080" algn="just">
              <a:lnSpc>
                <a:spcPct val="100000"/>
              </a:lnSpc>
              <a:spcBef>
                <a:spcPts val="100"/>
              </a:spcBef>
            </a:pPr>
            <a:endParaRPr lang="en-IN" sz="2400" dirty="0">
              <a:latin typeface="Times New Roman"/>
              <a:cs typeface="Times New Roman"/>
            </a:endParaRPr>
          </a:p>
          <a:p>
            <a:pPr marL="12700" marR="5080" algn="just">
              <a:lnSpc>
                <a:spcPct val="100000"/>
              </a:lnSpc>
              <a:spcBef>
                <a:spcPts val="100"/>
              </a:spcBef>
            </a:pPr>
            <a:endParaRPr lang="en-IN" sz="2400" dirty="0">
              <a:latin typeface="Times New Roman"/>
              <a:cs typeface="Times New Roman"/>
            </a:endParaRPr>
          </a:p>
          <a:p>
            <a:pPr marL="12700" marR="5080" algn="just">
              <a:lnSpc>
                <a:spcPct val="100000"/>
              </a:lnSpc>
              <a:spcBef>
                <a:spcPts val="100"/>
              </a:spcBef>
            </a:pPr>
            <a:endParaRPr lang="en-IN" sz="2400" dirty="0">
              <a:latin typeface="Times New Roman"/>
              <a:cs typeface="Times New Roman"/>
            </a:endParaRPr>
          </a:p>
          <a:p>
            <a:pPr marL="12700" marR="5080" algn="just">
              <a:lnSpc>
                <a:spcPct val="100000"/>
              </a:lnSpc>
              <a:spcBef>
                <a:spcPts val="100"/>
              </a:spcBef>
            </a:pPr>
            <a:endParaRPr lang="en-IN" sz="2400" dirty="0">
              <a:latin typeface="Times New Roman"/>
              <a:cs typeface="Times New Roman"/>
            </a:endParaRPr>
          </a:p>
          <a:p>
            <a:pPr marL="12700" marR="5080" algn="just">
              <a:lnSpc>
                <a:spcPct val="100000"/>
              </a:lnSpc>
              <a:spcBef>
                <a:spcPts val="100"/>
              </a:spcBef>
            </a:pPr>
            <a:endParaRPr lang="en-IN" sz="2400" dirty="0">
              <a:latin typeface="Times New Roman"/>
              <a:cs typeface="Times New Roman"/>
            </a:endParaRPr>
          </a:p>
          <a:p>
            <a:pPr marL="12700" marR="5080" algn="just">
              <a:lnSpc>
                <a:spcPct val="100000"/>
              </a:lnSpc>
              <a:spcBef>
                <a:spcPts val="100"/>
              </a:spcBef>
            </a:pPr>
            <a:endParaRPr sz="2400" dirty="0">
              <a:latin typeface="Times New Roman"/>
              <a:cs typeface="Times New Roman"/>
            </a:endParaRPr>
          </a:p>
        </p:txBody>
      </p:sp>
      <p:sp>
        <p:nvSpPr>
          <p:cNvPr id="3" name="object 3">
            <a:extLst>
              <a:ext uri="{FF2B5EF4-FFF2-40B4-BE49-F238E27FC236}">
                <a16:creationId xmlns:a16="http://schemas.microsoft.com/office/drawing/2014/main" id="{049958D6-8B9D-7E35-501C-0894B514BF88}"/>
              </a:ext>
            </a:extLst>
          </p:cNvPr>
          <p:cNvSpPr txBox="1">
            <a:spLocks noGrp="1"/>
          </p:cNvSpPr>
          <p:nvPr>
            <p:ph type="title"/>
          </p:nvPr>
        </p:nvSpPr>
        <p:spPr>
          <a:xfrm>
            <a:off x="179019" y="75133"/>
            <a:ext cx="7280656" cy="639072"/>
          </a:xfrm>
          <a:prstGeom prst="rect">
            <a:avLst/>
          </a:prstGeom>
        </p:spPr>
        <p:txBody>
          <a:bodyPr vert="horz" wrap="square" lIns="0" tIns="206171" rIns="0" bIns="0" rtlCol="0">
            <a:spAutoFit/>
          </a:bodyPr>
          <a:lstStyle/>
          <a:p>
            <a:pPr marL="96520">
              <a:lnSpc>
                <a:spcPct val="100000"/>
              </a:lnSpc>
              <a:spcBef>
                <a:spcPts val="95"/>
              </a:spcBef>
            </a:pPr>
            <a:r>
              <a:rPr spc="-10" dirty="0"/>
              <a:t>INTRODUCTION</a:t>
            </a:r>
          </a:p>
        </p:txBody>
      </p:sp>
      <p:pic>
        <p:nvPicPr>
          <p:cNvPr id="4" name="object 4">
            <a:extLst>
              <a:ext uri="{FF2B5EF4-FFF2-40B4-BE49-F238E27FC236}">
                <a16:creationId xmlns:a16="http://schemas.microsoft.com/office/drawing/2014/main" id="{7262EAC3-2CBB-2A1D-7ACE-0F695040DD26}"/>
              </a:ext>
            </a:extLst>
          </p:cNvPr>
          <p:cNvPicPr/>
          <p:nvPr/>
        </p:nvPicPr>
        <p:blipFill>
          <a:blip r:embed="rId2" cstate="print"/>
          <a:stretch>
            <a:fillRect/>
          </a:stretch>
        </p:blipFill>
        <p:spPr>
          <a:xfrm>
            <a:off x="9525000" y="152400"/>
            <a:ext cx="2286000" cy="838200"/>
          </a:xfrm>
          <a:prstGeom prst="rect">
            <a:avLst/>
          </a:prstGeom>
        </p:spPr>
      </p:pic>
      <p:sp>
        <p:nvSpPr>
          <p:cNvPr id="5" name="TextBox 4">
            <a:extLst>
              <a:ext uri="{FF2B5EF4-FFF2-40B4-BE49-F238E27FC236}">
                <a16:creationId xmlns:a16="http://schemas.microsoft.com/office/drawing/2014/main" id="{9BABB5A8-6777-7DAA-1CF3-7C5F58B3CAC0}"/>
              </a:ext>
            </a:extLst>
          </p:cNvPr>
          <p:cNvSpPr txBox="1"/>
          <p:nvPr/>
        </p:nvSpPr>
        <p:spPr>
          <a:xfrm>
            <a:off x="304800" y="685800"/>
            <a:ext cx="10668000" cy="6673943"/>
          </a:xfrm>
          <a:prstGeom prst="rect">
            <a:avLst/>
          </a:prstGeom>
          <a:noFill/>
        </p:spPr>
        <p:txBody>
          <a:bodyPr wrap="square"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In many colleges, students have different skills like programming, design, communication, and technical knowledge. However, some students have hesitation and fear of judgment, so they do not express their skills or ask doubts in class. Because of this, their academic progress may reduce. At the same time, faculty members cannot give personal attention to every student due to large class sizes and limited time.</a:t>
            </a:r>
          </a:p>
          <a:p>
            <a:pPr algn="just">
              <a:lnSpc>
                <a:spcPct val="150000"/>
              </a:lnSpc>
            </a:pPr>
            <a:r>
              <a:rPr lang="en-US" sz="2400" dirty="0">
                <a:latin typeface="Times New Roman" panose="02020603050405020304" pitchFamily="18" charset="0"/>
                <a:cs typeface="Times New Roman" panose="02020603050405020304" pitchFamily="18" charset="0"/>
              </a:rPr>
              <a:t>To solve this problem, we developed a Student Skill Exchange Platform using Machine Learning. This system intelligently matches students based on their skills and interests, helping them learn from each other in a comfortable and supportive environment. It also provides a secure chat feature so students can communicate and clarify doubts without fear</a:t>
            </a: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2211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CCE34-3FEA-BCC8-03CC-3F50C664253F}"/>
              </a:ext>
            </a:extLst>
          </p:cNvPr>
          <p:cNvSpPr>
            <a:spLocks noGrp="1"/>
          </p:cNvSpPr>
          <p:nvPr>
            <p:ph type="title"/>
          </p:nvPr>
        </p:nvSpPr>
        <p:spPr>
          <a:xfrm>
            <a:off x="179019" y="75133"/>
            <a:ext cx="7280656" cy="430887"/>
          </a:xfrm>
        </p:spPr>
        <p:txBody>
          <a:bodyPr/>
          <a:lstStyle/>
          <a:p>
            <a:r>
              <a:rPr lang="en-US" dirty="0"/>
              <a:t>PROJECT OVERVIEW</a:t>
            </a:r>
            <a:endParaRPr lang="en-IN" dirty="0"/>
          </a:p>
        </p:txBody>
      </p:sp>
      <p:sp>
        <p:nvSpPr>
          <p:cNvPr id="3" name="Text Placeholder 2">
            <a:extLst>
              <a:ext uri="{FF2B5EF4-FFF2-40B4-BE49-F238E27FC236}">
                <a16:creationId xmlns:a16="http://schemas.microsoft.com/office/drawing/2014/main" id="{CFB00E7A-A98F-13A3-D502-C3CF72AF478A}"/>
              </a:ext>
            </a:extLst>
          </p:cNvPr>
          <p:cNvSpPr>
            <a:spLocks noGrp="1"/>
          </p:cNvSpPr>
          <p:nvPr>
            <p:ph type="body" idx="1"/>
          </p:nvPr>
        </p:nvSpPr>
        <p:spPr>
          <a:xfrm>
            <a:off x="228600" y="914400"/>
            <a:ext cx="10820399" cy="5416868"/>
          </a:xfrm>
        </p:spPr>
        <p:txBody>
          <a:bodyPr/>
          <a:lstStyle/>
          <a:p>
            <a:pPr algn="just">
              <a:lnSpc>
                <a:spcPct val="150000"/>
              </a:lnSpc>
            </a:pPr>
            <a:r>
              <a:rPr lang="en-US" sz="2400" dirty="0"/>
              <a:t>This project is a web-based application developed using Python, SQLite database, Machine Learning, and a </a:t>
            </a:r>
            <a:r>
              <a:rPr lang="en-US" sz="2400" dirty="0" err="1"/>
              <a:t>Gradio</a:t>
            </a:r>
            <a:r>
              <a:rPr lang="en-US" sz="2400" dirty="0"/>
              <a:t> interface. It is designed to help students connect with each other based on their skills. The system allows students to create profiles, store their skills in a database, and search for other students who have similar or required skills.</a:t>
            </a:r>
          </a:p>
          <a:p>
            <a:pPr algn="just">
              <a:lnSpc>
                <a:spcPct val="150000"/>
              </a:lnSpc>
            </a:pPr>
            <a:r>
              <a:rPr lang="en-US" sz="2400" dirty="0"/>
              <a:t>The platform also uses Machine Learning techniques like TF-IDF and Cosine Similarity to provide intelligent skill matching with confidence scores. In addition to matching, the system includes a secure chat feature for communication and a dashboard to display statistics such as total users and model accuracy. The main goal of this project is to encourage peer-to-peer learning through smart and automated matching.</a:t>
            </a:r>
          </a:p>
          <a:p>
            <a:endParaRPr lang="en-IN" dirty="0"/>
          </a:p>
        </p:txBody>
      </p:sp>
      <p:pic>
        <p:nvPicPr>
          <p:cNvPr id="4" name="object 4">
            <a:extLst>
              <a:ext uri="{FF2B5EF4-FFF2-40B4-BE49-F238E27FC236}">
                <a16:creationId xmlns:a16="http://schemas.microsoft.com/office/drawing/2014/main" id="{096CFF60-BD14-C395-D31A-BE9CFB638C5E}"/>
              </a:ext>
            </a:extLst>
          </p:cNvPr>
          <p:cNvPicPr/>
          <p:nvPr/>
        </p:nvPicPr>
        <p:blipFill>
          <a:blip r:embed="rId2" cstate="print"/>
          <a:stretch>
            <a:fillRect/>
          </a:stretch>
        </p:blipFill>
        <p:spPr>
          <a:xfrm>
            <a:off x="9525000" y="152400"/>
            <a:ext cx="2590800" cy="762000"/>
          </a:xfrm>
          <a:prstGeom prst="rect">
            <a:avLst/>
          </a:prstGeom>
        </p:spPr>
      </p:pic>
    </p:spTree>
    <p:extLst>
      <p:ext uri="{BB962C8B-B14F-4D97-AF65-F5344CB8AC3E}">
        <p14:creationId xmlns:p14="http://schemas.microsoft.com/office/powerpoint/2010/main" val="4120528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7200" y="838200"/>
            <a:ext cx="10972800" cy="8874224"/>
          </a:xfrm>
          <a:prstGeom prst="rect">
            <a:avLst/>
          </a:prstGeom>
        </p:spPr>
        <p:txBody>
          <a:bodyPr vert="horz" wrap="square" lIns="0" tIns="12700" rIns="0" bIns="0"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In many educational institutions, students face difficulties in clarifying their academic doubts effectively. Although classrooms are designed for learning, not every student feels comfortable asking questions openly. Some students hesitate due to fear of judgment from classmates, lack of confidence, or anxiety about speaking in public. This hesitation often prevents them from clearing their misunderstandings at the right time.</a:t>
            </a:r>
          </a:p>
          <a:p>
            <a:pPr algn="just">
              <a:lnSpc>
                <a:spcPct val="150000"/>
              </a:lnSpc>
            </a:pPr>
            <a:r>
              <a:rPr lang="en-US" dirty="0">
                <a:latin typeface="Times New Roman" panose="02020603050405020304" pitchFamily="18" charset="0"/>
                <a:cs typeface="Times New Roman" panose="02020603050405020304" pitchFamily="18" charset="0"/>
              </a:rPr>
              <a:t>At the same time, faculty members have limited availability. They must manage multiple classes, administrative duties, and personal responsibilities. Because of time constraints, they cannot always provide individual attention to every student. As a result, students who require extra explanation or personalized guidance may not receive sufficient support.</a:t>
            </a:r>
          </a:p>
          <a:p>
            <a:pPr algn="just">
              <a:lnSpc>
                <a:spcPct val="150000"/>
              </a:lnSpc>
            </a:pPr>
            <a:r>
              <a:rPr lang="en-US" dirty="0">
                <a:latin typeface="Times New Roman" panose="02020603050405020304" pitchFamily="18" charset="0"/>
                <a:cs typeface="Times New Roman" panose="02020603050405020304" pitchFamily="18" charset="0"/>
              </a:rPr>
              <a:t>Additionally, there is often limited structured interaction between students for academic collaboration. Even though many students possess strong knowledge or skills in certain subjects, there is no organized system within institutions that connects learners with peers who can help them. Knowledge sharing remains informal and unstructured, which reduces its effectiveness.</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marL="342900" indent="-342900">
              <a:lnSpc>
                <a:spcPct val="200000"/>
              </a:lnSpc>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12700" marR="5080" algn="just">
              <a:lnSpc>
                <a:spcPct val="100000"/>
              </a:lnSpc>
              <a:spcBef>
                <a:spcPts val="100"/>
              </a:spcBef>
            </a:pPr>
            <a:endParaRPr lang="en-US" sz="2400" dirty="0">
              <a:latin typeface="Times New Roman"/>
              <a:cs typeface="Times New Roman"/>
            </a:endParaRPr>
          </a:p>
          <a:p>
            <a:pPr marL="12700" marR="5080" algn="just">
              <a:lnSpc>
                <a:spcPct val="100000"/>
              </a:lnSpc>
              <a:spcBef>
                <a:spcPts val="100"/>
              </a:spcBef>
            </a:pPr>
            <a:endParaRPr lang="en-IN" sz="2400" dirty="0">
              <a:latin typeface="Times New Roman"/>
              <a:cs typeface="Times New Roman"/>
            </a:endParaRPr>
          </a:p>
          <a:p>
            <a:pPr marL="12700" marR="5080" algn="just">
              <a:lnSpc>
                <a:spcPct val="100000"/>
              </a:lnSpc>
              <a:spcBef>
                <a:spcPts val="100"/>
              </a:spcBef>
            </a:pPr>
            <a:endParaRPr lang="en-IN" sz="2400" dirty="0">
              <a:latin typeface="Times New Roman"/>
              <a:cs typeface="Times New Roman"/>
            </a:endParaRPr>
          </a:p>
          <a:p>
            <a:pPr marL="12700" marR="5080" algn="just">
              <a:lnSpc>
                <a:spcPct val="100000"/>
              </a:lnSpc>
              <a:spcBef>
                <a:spcPts val="100"/>
              </a:spcBef>
            </a:pPr>
            <a:endParaRPr lang="en-IN" sz="2400" dirty="0">
              <a:latin typeface="Times New Roman"/>
              <a:cs typeface="Times New Roman"/>
            </a:endParaRPr>
          </a:p>
          <a:p>
            <a:pPr marL="12700" marR="5080" algn="just">
              <a:lnSpc>
                <a:spcPct val="100000"/>
              </a:lnSpc>
              <a:spcBef>
                <a:spcPts val="100"/>
              </a:spcBef>
            </a:pPr>
            <a:endParaRPr lang="en-IN" sz="2400" dirty="0">
              <a:latin typeface="Times New Roman"/>
              <a:cs typeface="Times New Roman"/>
            </a:endParaRPr>
          </a:p>
          <a:p>
            <a:pPr marL="12700" marR="5080" algn="just">
              <a:lnSpc>
                <a:spcPct val="100000"/>
              </a:lnSpc>
              <a:spcBef>
                <a:spcPts val="100"/>
              </a:spcBef>
            </a:pPr>
            <a:endParaRPr lang="en-IN" sz="2400" dirty="0">
              <a:latin typeface="Times New Roman"/>
              <a:cs typeface="Times New Roman"/>
            </a:endParaRPr>
          </a:p>
          <a:p>
            <a:pPr marL="12700" marR="5080" algn="just">
              <a:lnSpc>
                <a:spcPct val="100000"/>
              </a:lnSpc>
              <a:spcBef>
                <a:spcPts val="100"/>
              </a:spcBef>
            </a:pPr>
            <a:endParaRPr sz="2400" dirty="0">
              <a:latin typeface="Times New Roman"/>
              <a:cs typeface="Times New Roman"/>
            </a:endParaRPr>
          </a:p>
        </p:txBody>
      </p:sp>
      <p:sp>
        <p:nvSpPr>
          <p:cNvPr id="3" name="object 3"/>
          <p:cNvSpPr txBox="1">
            <a:spLocks noGrp="1"/>
          </p:cNvSpPr>
          <p:nvPr>
            <p:ph type="title"/>
          </p:nvPr>
        </p:nvSpPr>
        <p:spPr>
          <a:xfrm>
            <a:off x="179019" y="75133"/>
            <a:ext cx="7280656" cy="516859"/>
          </a:xfrm>
          <a:prstGeom prst="rect">
            <a:avLst/>
          </a:prstGeom>
          <a:ln>
            <a:solidFill>
              <a:schemeClr val="bg1"/>
            </a:solidFill>
          </a:ln>
        </p:spPr>
        <p:txBody>
          <a:bodyPr vert="horz" wrap="square" lIns="0" tIns="85140" rIns="0" bIns="0" rtlCol="0">
            <a:spAutoFit/>
          </a:bodyPr>
          <a:lstStyle/>
          <a:p>
            <a:pPr marL="12700">
              <a:lnSpc>
                <a:spcPct val="100000"/>
              </a:lnSpc>
              <a:spcBef>
                <a:spcPts val="95"/>
              </a:spcBef>
            </a:pPr>
            <a:r>
              <a:rPr dirty="0"/>
              <a:t>PROBLEM</a:t>
            </a:r>
            <a:r>
              <a:rPr spc="-110" dirty="0"/>
              <a:t> </a:t>
            </a:r>
            <a:r>
              <a:rPr spc="-40" dirty="0"/>
              <a:t>STATEMENT</a:t>
            </a:r>
          </a:p>
        </p:txBody>
      </p:sp>
      <p:pic>
        <p:nvPicPr>
          <p:cNvPr id="4" name="object 4">
            <a:extLst>
              <a:ext uri="{FF2B5EF4-FFF2-40B4-BE49-F238E27FC236}">
                <a16:creationId xmlns:a16="http://schemas.microsoft.com/office/drawing/2014/main" id="{A2583CEF-5032-4889-7646-3FFDDBF6C822}"/>
              </a:ext>
            </a:extLst>
          </p:cNvPr>
          <p:cNvPicPr/>
          <p:nvPr/>
        </p:nvPicPr>
        <p:blipFill>
          <a:blip r:embed="rId2" cstate="print"/>
          <a:stretch>
            <a:fillRect/>
          </a:stretch>
        </p:blipFill>
        <p:spPr>
          <a:xfrm>
            <a:off x="9525000" y="152400"/>
            <a:ext cx="2286000" cy="685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74BFF0E-542F-BD3E-8340-A675BAD8ED3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125E856-7E3C-29E6-965F-0FE09F08CD06}"/>
              </a:ext>
            </a:extLst>
          </p:cNvPr>
          <p:cNvSpPr txBox="1"/>
          <p:nvPr/>
        </p:nvSpPr>
        <p:spPr>
          <a:xfrm>
            <a:off x="457200" y="838200"/>
            <a:ext cx="10972800" cy="8058616"/>
          </a:xfrm>
          <a:prstGeom prst="rect">
            <a:avLst/>
          </a:prstGeom>
        </p:spPr>
        <p:txBody>
          <a:bodyPr vert="horz" wrap="square" lIns="0" tIns="12700" rIns="0" bIns="0" rtlCol="0">
            <a:sp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Due to these barriers hesitation, fear of judgment, limited faculty time, lack of structured peer interaction, and communication gaps students may struggle to learn concepts deeply. This slows down their academic progress and reduces their overall confidence.</a:t>
            </a:r>
          </a:p>
          <a:p>
            <a:pPr algn="just">
              <a:lnSpc>
                <a:spcPct val="150000"/>
              </a:lnSpc>
            </a:pPr>
            <a:r>
              <a:rPr lang="en-US" dirty="0">
                <a:latin typeface="Times New Roman" panose="02020603050405020304" pitchFamily="18" charset="0"/>
                <a:cs typeface="Times New Roman" panose="02020603050405020304" pitchFamily="18" charset="0"/>
              </a:rPr>
              <a:t>Therefore, there is a need for an intelligent, structured, and student-centered platform that enables peer-to-peer skill exchange. Such a system should connect students based on their skills and learning needs in a comfortable and supportive environment, helping to remove hesitation and promote collaborative learning.</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endParaRPr lang="en-US" sz="2400" dirty="0">
              <a:latin typeface="Times New Roman" panose="02020603050405020304" pitchFamily="18" charset="0"/>
              <a:cs typeface="Times New Roman" panose="02020603050405020304" pitchFamily="18" charset="0"/>
            </a:endParaRPr>
          </a:p>
          <a:p>
            <a:pPr marL="342900" indent="-342900">
              <a:lnSpc>
                <a:spcPct val="20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nSpc>
                <a:spcPct val="200000"/>
              </a:lnSpc>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12700" marR="5080" algn="just">
              <a:lnSpc>
                <a:spcPct val="100000"/>
              </a:lnSpc>
              <a:spcBef>
                <a:spcPts val="100"/>
              </a:spcBef>
            </a:pPr>
            <a:endParaRPr lang="en-US" sz="2400" dirty="0">
              <a:latin typeface="Times New Roman"/>
              <a:cs typeface="Times New Roman"/>
            </a:endParaRPr>
          </a:p>
          <a:p>
            <a:pPr marL="12700" marR="5080" algn="just">
              <a:lnSpc>
                <a:spcPct val="100000"/>
              </a:lnSpc>
              <a:spcBef>
                <a:spcPts val="100"/>
              </a:spcBef>
            </a:pPr>
            <a:endParaRPr lang="en-IN" sz="2400" dirty="0">
              <a:latin typeface="Times New Roman"/>
              <a:cs typeface="Times New Roman"/>
            </a:endParaRPr>
          </a:p>
          <a:p>
            <a:pPr marL="12700" marR="5080" algn="just">
              <a:lnSpc>
                <a:spcPct val="100000"/>
              </a:lnSpc>
              <a:spcBef>
                <a:spcPts val="100"/>
              </a:spcBef>
            </a:pPr>
            <a:endParaRPr lang="en-IN" sz="2400" dirty="0">
              <a:latin typeface="Times New Roman"/>
              <a:cs typeface="Times New Roman"/>
            </a:endParaRPr>
          </a:p>
          <a:p>
            <a:pPr marL="12700" marR="5080" algn="just">
              <a:lnSpc>
                <a:spcPct val="100000"/>
              </a:lnSpc>
              <a:spcBef>
                <a:spcPts val="100"/>
              </a:spcBef>
            </a:pPr>
            <a:endParaRPr lang="en-IN" sz="2400" dirty="0">
              <a:latin typeface="Times New Roman"/>
              <a:cs typeface="Times New Roman"/>
            </a:endParaRPr>
          </a:p>
          <a:p>
            <a:pPr marL="12700" marR="5080" algn="just">
              <a:lnSpc>
                <a:spcPct val="100000"/>
              </a:lnSpc>
              <a:spcBef>
                <a:spcPts val="100"/>
              </a:spcBef>
            </a:pPr>
            <a:endParaRPr lang="en-IN" sz="2400" dirty="0">
              <a:latin typeface="Times New Roman"/>
              <a:cs typeface="Times New Roman"/>
            </a:endParaRPr>
          </a:p>
          <a:p>
            <a:pPr marL="12700" marR="5080" algn="just">
              <a:lnSpc>
                <a:spcPct val="100000"/>
              </a:lnSpc>
              <a:spcBef>
                <a:spcPts val="100"/>
              </a:spcBef>
            </a:pPr>
            <a:endParaRPr lang="en-IN" sz="2400" dirty="0">
              <a:latin typeface="Times New Roman"/>
              <a:cs typeface="Times New Roman"/>
            </a:endParaRPr>
          </a:p>
          <a:p>
            <a:pPr marL="12700" marR="5080" algn="just">
              <a:lnSpc>
                <a:spcPct val="100000"/>
              </a:lnSpc>
              <a:spcBef>
                <a:spcPts val="100"/>
              </a:spcBef>
            </a:pPr>
            <a:endParaRPr sz="2400" dirty="0">
              <a:latin typeface="Times New Roman"/>
              <a:cs typeface="Times New Roman"/>
            </a:endParaRPr>
          </a:p>
        </p:txBody>
      </p:sp>
      <p:pic>
        <p:nvPicPr>
          <p:cNvPr id="4" name="object 4">
            <a:extLst>
              <a:ext uri="{FF2B5EF4-FFF2-40B4-BE49-F238E27FC236}">
                <a16:creationId xmlns:a16="http://schemas.microsoft.com/office/drawing/2014/main" id="{62FD3AAF-D838-32B3-0718-505AFC4801B1}"/>
              </a:ext>
            </a:extLst>
          </p:cNvPr>
          <p:cNvPicPr/>
          <p:nvPr/>
        </p:nvPicPr>
        <p:blipFill>
          <a:blip r:embed="rId2" cstate="print"/>
          <a:stretch>
            <a:fillRect/>
          </a:stretch>
        </p:blipFill>
        <p:spPr>
          <a:xfrm>
            <a:off x="9525000" y="152400"/>
            <a:ext cx="2286000" cy="685800"/>
          </a:xfrm>
          <a:prstGeom prst="rect">
            <a:avLst/>
          </a:prstGeom>
        </p:spPr>
      </p:pic>
      <p:sp>
        <p:nvSpPr>
          <p:cNvPr id="6" name="Title 5">
            <a:extLst>
              <a:ext uri="{FF2B5EF4-FFF2-40B4-BE49-F238E27FC236}">
                <a16:creationId xmlns:a16="http://schemas.microsoft.com/office/drawing/2014/main" id="{1E5A0195-B473-B1BC-BE1D-2E9ECAF57A07}"/>
              </a:ext>
            </a:extLst>
          </p:cNvPr>
          <p:cNvSpPr>
            <a:spLocks noGrp="1"/>
          </p:cNvSpPr>
          <p:nvPr>
            <p:ph type="title"/>
          </p:nvPr>
        </p:nvSpPr>
        <p:spPr/>
        <p:txBody>
          <a:bodyPr/>
          <a:lstStyle/>
          <a:p>
            <a:endParaRPr lang="en-IN" dirty="0"/>
          </a:p>
        </p:txBody>
      </p:sp>
    </p:spTree>
    <p:extLst>
      <p:ext uri="{BB962C8B-B14F-4D97-AF65-F5344CB8AC3E}">
        <p14:creationId xmlns:p14="http://schemas.microsoft.com/office/powerpoint/2010/main" val="405870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15237-AE15-BFB3-0A9C-5ED0C6EE8355}"/>
              </a:ext>
            </a:extLst>
          </p:cNvPr>
          <p:cNvSpPr>
            <a:spLocks noGrp="1"/>
          </p:cNvSpPr>
          <p:nvPr>
            <p:ph type="title"/>
          </p:nvPr>
        </p:nvSpPr>
        <p:spPr>
          <a:xfrm>
            <a:off x="179019" y="75133"/>
            <a:ext cx="7280656" cy="430887"/>
          </a:xfrm>
        </p:spPr>
        <p:txBody>
          <a:bodyPr/>
          <a:lstStyle/>
          <a:p>
            <a:r>
              <a:rPr lang="en-US" dirty="0"/>
              <a:t>LITERATURE  SURVEY</a:t>
            </a:r>
            <a:endParaRPr lang="en-IN" dirty="0"/>
          </a:p>
        </p:txBody>
      </p:sp>
      <p:pic>
        <p:nvPicPr>
          <p:cNvPr id="4" name="object 4">
            <a:extLst>
              <a:ext uri="{FF2B5EF4-FFF2-40B4-BE49-F238E27FC236}">
                <a16:creationId xmlns:a16="http://schemas.microsoft.com/office/drawing/2014/main" id="{0B2B0FAB-AF94-4A0D-95C1-110A177F6A6A}"/>
              </a:ext>
            </a:extLst>
          </p:cNvPr>
          <p:cNvPicPr/>
          <p:nvPr/>
        </p:nvPicPr>
        <p:blipFill>
          <a:blip r:embed="rId2" cstate="print"/>
          <a:stretch>
            <a:fillRect/>
          </a:stretch>
        </p:blipFill>
        <p:spPr>
          <a:xfrm>
            <a:off x="9525000" y="152400"/>
            <a:ext cx="2286000" cy="685800"/>
          </a:xfrm>
          <a:prstGeom prst="rect">
            <a:avLst/>
          </a:prstGeom>
        </p:spPr>
      </p:pic>
      <p:sp>
        <p:nvSpPr>
          <p:cNvPr id="14" name="Rectangle 10">
            <a:extLst>
              <a:ext uri="{FF2B5EF4-FFF2-40B4-BE49-F238E27FC236}">
                <a16:creationId xmlns:a16="http://schemas.microsoft.com/office/drawing/2014/main" id="{DC0859F3-B4FA-E823-CF30-D4D8B32C074A}"/>
              </a:ext>
            </a:extLst>
          </p:cNvPr>
          <p:cNvSpPr>
            <a:spLocks noChangeArrowheads="1"/>
          </p:cNvSpPr>
          <p:nvPr/>
        </p:nvSpPr>
        <p:spPr bwMode="auto">
          <a:xfrm flipH="1">
            <a:off x="609600" y="3892034"/>
            <a:ext cx="113538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18" name="TextBox 17">
            <a:extLst>
              <a:ext uri="{FF2B5EF4-FFF2-40B4-BE49-F238E27FC236}">
                <a16:creationId xmlns:a16="http://schemas.microsoft.com/office/drawing/2014/main" id="{2182EB92-D524-8CA9-E062-EBD5DD867B7E}"/>
              </a:ext>
            </a:extLst>
          </p:cNvPr>
          <p:cNvSpPr txBox="1"/>
          <p:nvPr/>
        </p:nvSpPr>
        <p:spPr>
          <a:xfrm>
            <a:off x="228600" y="457200"/>
            <a:ext cx="11582400" cy="6275051"/>
          </a:xfrm>
          <a:prstGeom prst="rect">
            <a:avLst/>
          </a:prstGeom>
          <a:noFill/>
        </p:spPr>
        <p:txBody>
          <a:bodyPr wrap="square" rtlCol="0">
            <a:spAutoFit/>
          </a:bodyPr>
          <a:lstStyle/>
          <a:p>
            <a:pPr algn="l">
              <a:lnSpc>
                <a:spcPct val="150000"/>
              </a:lnSpc>
            </a:pPr>
            <a:r>
              <a:rPr lang="en-US" b="1" dirty="0">
                <a:latin typeface="Times New Roman" panose="02020603050405020304" pitchFamily="18" charset="0"/>
                <a:cs typeface="Times New Roman" panose="02020603050405020304" pitchFamily="18" charset="0"/>
              </a:rPr>
              <a:t>1.BERT-Based Hybrid Recommendation System (2024)</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research combines TF-IDF and BERT embeddings for academic profile matching. It improves recommendation accuracy by understanding contextual meaning. However, it requires high computational power.</a:t>
            </a:r>
          </a:p>
          <a:p>
            <a:pPr algn="l">
              <a:lnSpc>
                <a:spcPct val="150000"/>
              </a:lnSpc>
            </a:pPr>
            <a:r>
              <a:rPr lang="en-US" b="1" dirty="0">
                <a:latin typeface="Times New Roman" panose="02020603050405020304" pitchFamily="18" charset="0"/>
                <a:cs typeface="Times New Roman" panose="02020603050405020304" pitchFamily="18" charset="0"/>
              </a:rPr>
              <a:t>2. Content-Based Recommendation using TF-IDF &amp; Cosine Similarity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approach uses TF-IDF and Cosine Similarity to match user profiles. It is efficient and widely used for text-based systems. However, it cannot capture deep semantic meaning.</a:t>
            </a:r>
          </a:p>
          <a:p>
            <a:pPr algn="l">
              <a:lnSpc>
                <a:spcPct val="150000"/>
              </a:lnSpc>
            </a:pPr>
            <a:r>
              <a:rPr lang="en-US" b="1" dirty="0">
                <a:latin typeface="Times New Roman" panose="02020603050405020304" pitchFamily="18" charset="0"/>
                <a:cs typeface="Times New Roman" panose="02020603050405020304" pitchFamily="18" charset="0"/>
              </a:rPr>
              <a:t>3. Student-Event Recommendation System (2017)</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system matches students with college events using text mining and similarity measures. It improves relevance but focuses only on event recommendations, not peer skill exchange.</a:t>
            </a:r>
          </a:p>
          <a:p>
            <a:pPr algn="l">
              <a:lnSpc>
                <a:spcPct val="150000"/>
              </a:lnSpc>
            </a:pPr>
            <a:r>
              <a:rPr lang="en-US" b="1" dirty="0">
                <a:latin typeface="Times New Roman" panose="02020603050405020304" pitchFamily="18" charset="0"/>
                <a:cs typeface="Times New Roman" panose="02020603050405020304" pitchFamily="18" charset="0"/>
              </a:rPr>
              <a:t>4. Collaborative Filtering for Peer Matching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Collaborative filtering connects users based on similar interests. It is useful for peer learning platforms but has a cold-start problem for new users.</a:t>
            </a:r>
          </a:p>
          <a:p>
            <a:pPr algn="l">
              <a:lnSpc>
                <a:spcPct val="150000"/>
              </a:lnSpc>
            </a:pPr>
            <a:r>
              <a:rPr lang="en-US" b="1" dirty="0">
                <a:latin typeface="Times New Roman" panose="02020603050405020304" pitchFamily="18" charset="0"/>
                <a:cs typeface="Times New Roman" panose="02020603050405020304" pitchFamily="18" charset="0"/>
              </a:rPr>
              <a:t>5. Content-Based Recommendation Systems (2007)</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method compares user profiles using text mining techniques like TF-IDF. It works well for profile matching but lacks collaborative insights.</a:t>
            </a:r>
          </a:p>
        </p:txBody>
      </p:sp>
    </p:spTree>
    <p:extLst>
      <p:ext uri="{BB962C8B-B14F-4D97-AF65-F5344CB8AC3E}">
        <p14:creationId xmlns:p14="http://schemas.microsoft.com/office/powerpoint/2010/main" val="3269723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7200" y="381000"/>
            <a:ext cx="10972800" cy="7337265"/>
          </a:xfrm>
          <a:prstGeom prst="rect">
            <a:avLst/>
          </a:prstGeom>
        </p:spPr>
        <p:txBody>
          <a:bodyPr vert="horz" wrap="square" lIns="0" tIns="12065" rIns="0" bIns="0" rtlCol="0">
            <a:spAutoFit/>
          </a:bodyPr>
          <a:lstStyle/>
          <a:p>
            <a:pPr marL="12700">
              <a:lnSpc>
                <a:spcPct val="100000"/>
              </a:lnSpc>
              <a:spcBef>
                <a:spcPts val="95"/>
              </a:spcBef>
            </a:pPr>
            <a:r>
              <a:rPr sz="2800" b="1" spc="-10" dirty="0">
                <a:solidFill>
                  <a:srgbClr val="FF0000"/>
                </a:solidFill>
                <a:latin typeface="Times New Roman"/>
                <a:cs typeface="Times New Roman"/>
              </a:rPr>
              <a:t>OBJECTIVES</a:t>
            </a:r>
            <a:endParaRPr lang="en-US" sz="2800" b="1" spc="-10" dirty="0">
              <a:solidFill>
                <a:srgbClr val="FF0000"/>
              </a:solidFill>
              <a:latin typeface="Times New Roman"/>
              <a:cs typeface="Times New Roman"/>
            </a:endParaRPr>
          </a:p>
          <a:p>
            <a:pPr marL="12700">
              <a:lnSpc>
                <a:spcPct val="100000"/>
              </a:lnSpc>
              <a:spcBef>
                <a:spcPts val="95"/>
              </a:spcBef>
            </a:pPr>
            <a:endParaRPr lang="en-US" sz="2800" b="1" spc="-10" dirty="0">
              <a:solidFill>
                <a:srgbClr val="FF0000"/>
              </a:solidFill>
              <a:latin typeface="Times New Roman"/>
              <a:cs typeface="Times New Roman"/>
            </a:endParaRP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create a platform where students can share and exchange their skills</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help students overcome hesitation and fear of judgment</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provide an opportunity for students to ask doubts freely</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support students whose academic progress is affected due to lack of interaction</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reduce dependency only on faculty by encouraging peer learning</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implement  skill matching using Machine Learning</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enable secure communication between students</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evaluate the system performance using accuracy metrics</a:t>
            </a:r>
          </a:p>
          <a:p>
            <a:pPr marL="342900" indent="-342900" algn="just">
              <a:lnSpc>
                <a:spcPct val="150000"/>
              </a:lnSpc>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457200" indent="-457200">
              <a:lnSpc>
                <a:spcPct val="200000"/>
              </a:lnSpc>
              <a:buFont typeface="Wingdings" panose="05000000000000000000" pitchFamily="2" charset="2"/>
              <a:buChar char="Ø"/>
            </a:pPr>
            <a:endParaRPr lang="en-US" sz="2400" dirty="0"/>
          </a:p>
          <a:p>
            <a:pPr marL="135255" indent="-133350">
              <a:lnSpc>
                <a:spcPct val="100000"/>
              </a:lnSpc>
              <a:spcBef>
                <a:spcPts val="2315"/>
              </a:spcBef>
              <a:buSzPct val="96428"/>
              <a:buFont typeface="Arial MT"/>
              <a:buChar char="•"/>
              <a:tabLst>
                <a:tab pos="135255" algn="l"/>
              </a:tabLst>
            </a:pPr>
            <a:endParaRPr sz="2800" dirty="0">
              <a:latin typeface="Times New Roman"/>
              <a:cs typeface="Times New Roman"/>
            </a:endParaRPr>
          </a:p>
        </p:txBody>
      </p:sp>
      <p:pic>
        <p:nvPicPr>
          <p:cNvPr id="3" name="object 4">
            <a:extLst>
              <a:ext uri="{FF2B5EF4-FFF2-40B4-BE49-F238E27FC236}">
                <a16:creationId xmlns:a16="http://schemas.microsoft.com/office/drawing/2014/main" id="{E7D728C7-2BFF-7347-77EA-CABAF1CB62F9}"/>
              </a:ext>
            </a:extLst>
          </p:cNvPr>
          <p:cNvPicPr/>
          <p:nvPr/>
        </p:nvPicPr>
        <p:blipFill>
          <a:blip r:embed="rId2" cstate="print"/>
          <a:stretch>
            <a:fillRect/>
          </a:stretch>
        </p:blipFill>
        <p:spPr>
          <a:xfrm>
            <a:off x="9829800" y="152400"/>
            <a:ext cx="1905000" cy="838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59916" y="399415"/>
            <a:ext cx="8740140" cy="6434454"/>
          </a:xfrm>
          <a:prstGeom prst="rect">
            <a:avLst/>
          </a:prstGeom>
        </p:spPr>
        <p:txBody>
          <a:bodyPr vert="horz" wrap="square" lIns="0" tIns="12065" rIns="0" bIns="0" rtlCol="0">
            <a:spAutoFit/>
          </a:bodyPr>
          <a:lstStyle/>
          <a:p>
            <a:pPr marL="12700">
              <a:lnSpc>
                <a:spcPct val="100000"/>
              </a:lnSpc>
              <a:spcBef>
                <a:spcPts val="95"/>
              </a:spcBef>
            </a:pPr>
            <a:r>
              <a:rPr sz="2800" b="1" spc="-40" dirty="0">
                <a:solidFill>
                  <a:srgbClr val="FF0000"/>
                </a:solidFill>
                <a:latin typeface="Times New Roman"/>
                <a:cs typeface="Times New Roman"/>
              </a:rPr>
              <a:t>LIMITATIONS</a:t>
            </a:r>
            <a:r>
              <a:rPr sz="2800" b="1" spc="-60" dirty="0">
                <a:solidFill>
                  <a:srgbClr val="FF0000"/>
                </a:solidFill>
                <a:latin typeface="Times New Roman"/>
                <a:cs typeface="Times New Roman"/>
              </a:rPr>
              <a:t> </a:t>
            </a:r>
            <a:r>
              <a:rPr sz="2800" b="1" dirty="0">
                <a:solidFill>
                  <a:srgbClr val="FF0000"/>
                </a:solidFill>
                <a:latin typeface="Times New Roman"/>
                <a:cs typeface="Times New Roman"/>
              </a:rPr>
              <a:t>OF</a:t>
            </a:r>
            <a:r>
              <a:rPr sz="2800" b="1" spc="-125" dirty="0">
                <a:solidFill>
                  <a:srgbClr val="FF0000"/>
                </a:solidFill>
                <a:latin typeface="Times New Roman"/>
                <a:cs typeface="Times New Roman"/>
              </a:rPr>
              <a:t> </a:t>
            </a:r>
            <a:r>
              <a:rPr sz="2800" b="1" spc="-20" dirty="0">
                <a:solidFill>
                  <a:srgbClr val="FF0000"/>
                </a:solidFill>
                <a:latin typeface="Times New Roman"/>
                <a:cs typeface="Times New Roman"/>
              </a:rPr>
              <a:t>EXISTING</a:t>
            </a:r>
            <a:r>
              <a:rPr sz="2800" b="1" spc="-155" dirty="0">
                <a:solidFill>
                  <a:srgbClr val="FF0000"/>
                </a:solidFill>
                <a:latin typeface="Times New Roman"/>
                <a:cs typeface="Times New Roman"/>
              </a:rPr>
              <a:t> </a:t>
            </a:r>
            <a:r>
              <a:rPr sz="2800" b="1" spc="-10" dirty="0">
                <a:solidFill>
                  <a:srgbClr val="FF0000"/>
                </a:solidFill>
                <a:latin typeface="Times New Roman"/>
                <a:cs typeface="Times New Roman"/>
              </a:rPr>
              <a:t>APPROACHES</a:t>
            </a:r>
            <a:endParaRPr sz="2800" dirty="0">
              <a:solidFill>
                <a:srgbClr val="FF0000"/>
              </a:solidFill>
              <a:latin typeface="Times New Roman"/>
              <a:cs typeface="Times New Roman"/>
            </a:endParaRPr>
          </a:p>
          <a:p>
            <a:pPr>
              <a:lnSpc>
                <a:spcPct val="100000"/>
              </a:lnSpc>
              <a:spcBef>
                <a:spcPts val="434"/>
              </a:spcBef>
            </a:pPr>
            <a:endParaRPr sz="2800" dirty="0">
              <a:latin typeface="Times New Roman"/>
              <a:cs typeface="Times New Roman"/>
            </a:endParaRP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Manual skill searching</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No ML-based recommendation system</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No real-time peer interaction</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No accuracy evaluation</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No centralized student skill database</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Limited communication between students</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Reduces collaboration and skill visibility</a:t>
            </a:r>
          </a:p>
          <a:p>
            <a:pPr marL="342900" indent="-342900" algn="just">
              <a:lnSpc>
                <a:spcPct val="150000"/>
              </a:lnSpc>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135255" indent="-133350">
              <a:lnSpc>
                <a:spcPct val="100000"/>
              </a:lnSpc>
              <a:buSzPct val="96428"/>
              <a:buFont typeface="Arial MT"/>
              <a:buChar char="•"/>
              <a:tabLst>
                <a:tab pos="135255" algn="l"/>
              </a:tabLst>
            </a:pPr>
            <a:endParaRPr sz="2800" dirty="0">
              <a:latin typeface="Times New Roman"/>
              <a:cs typeface="Times New Roman"/>
            </a:endParaRPr>
          </a:p>
        </p:txBody>
      </p:sp>
      <p:pic>
        <p:nvPicPr>
          <p:cNvPr id="3" name="object 4">
            <a:extLst>
              <a:ext uri="{FF2B5EF4-FFF2-40B4-BE49-F238E27FC236}">
                <a16:creationId xmlns:a16="http://schemas.microsoft.com/office/drawing/2014/main" id="{E18D2FB5-6E74-33EE-8DB0-5C0895E66DE4}"/>
              </a:ext>
            </a:extLst>
          </p:cNvPr>
          <p:cNvPicPr/>
          <p:nvPr/>
        </p:nvPicPr>
        <p:blipFill>
          <a:blip r:embed="rId2" cstate="print"/>
          <a:stretch>
            <a:fillRect/>
          </a:stretch>
        </p:blipFill>
        <p:spPr>
          <a:xfrm>
            <a:off x="9906000" y="152400"/>
            <a:ext cx="1981200" cy="838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019" y="75133"/>
            <a:ext cx="7280656" cy="621504"/>
          </a:xfrm>
          <a:prstGeom prst="rect">
            <a:avLst/>
          </a:prstGeom>
        </p:spPr>
        <p:txBody>
          <a:bodyPr vert="horz" wrap="square" lIns="0" tIns="188773" rIns="0" bIns="0" rtlCol="0">
            <a:spAutoFit/>
          </a:bodyPr>
          <a:lstStyle/>
          <a:p>
            <a:pPr marL="516255">
              <a:lnSpc>
                <a:spcPct val="100000"/>
              </a:lnSpc>
              <a:spcBef>
                <a:spcPts val="95"/>
              </a:spcBef>
            </a:pPr>
            <a:r>
              <a:rPr dirty="0"/>
              <a:t>PROPOSED</a:t>
            </a:r>
            <a:r>
              <a:rPr spc="-165" dirty="0"/>
              <a:t> </a:t>
            </a:r>
            <a:r>
              <a:rPr spc="-10" dirty="0"/>
              <a:t>SYSTEM</a:t>
            </a:r>
          </a:p>
        </p:txBody>
      </p:sp>
      <p:sp>
        <p:nvSpPr>
          <p:cNvPr id="3" name="object 3"/>
          <p:cNvSpPr txBox="1"/>
          <p:nvPr/>
        </p:nvSpPr>
        <p:spPr>
          <a:xfrm>
            <a:off x="682853" y="304800"/>
            <a:ext cx="13414147" cy="8581836"/>
          </a:xfrm>
          <a:prstGeom prst="rect">
            <a:avLst/>
          </a:prstGeom>
        </p:spPr>
        <p:txBody>
          <a:bodyPr vert="horz" wrap="square" lIns="0" tIns="12700" rIns="0" bIns="0" rtlCol="0">
            <a:spAutoFit/>
          </a:bodyPr>
          <a:lstStyle/>
          <a:p>
            <a:pPr marL="0" marR="0" lvl="0" indent="0" algn="just" defTabSz="914400" rtl="0" eaLnBrk="0" fontAlgn="base" latinLnBrk="0" hangingPunct="0">
              <a:lnSpc>
                <a:spcPct val="15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create profiles and enter their skills as input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Student data is stored in a centralized SQLite database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Skill text is converted into numerical format using TF-IDF</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Cosine Similarity is used to calculate similarity between students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ML model identifies and displays Top-K similar users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Confidence scores (%) are shown to indicate matching strength</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chat system enables peer-to-peer communication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Message history is stored and managed in the database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Dashboard displays total users, unique skills, and Top-3 accuracy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performance is evaluated using accuracy metrics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Acts as a smart learning support platform that promotes peer-to-peer collaboration</a:t>
            </a:r>
          </a:p>
          <a:p>
            <a:pPr marL="342900" indent="-342900" algn="just">
              <a:lnSpc>
                <a:spcPct val="150000"/>
              </a:lnSpc>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nSpc>
                <a:spcPct val="200000"/>
              </a:lnSpc>
              <a:buFont typeface="Wingdings" panose="05000000000000000000" pitchFamily="2" charset="2"/>
              <a:buChar char="Ø"/>
            </a:pPr>
            <a:endParaRPr lang="en-US" sz="2400" dirty="0"/>
          </a:p>
          <a:p>
            <a:pPr marL="347345" indent="-342900">
              <a:lnSpc>
                <a:spcPct val="100000"/>
              </a:lnSpc>
              <a:spcBef>
                <a:spcPts val="100"/>
              </a:spcBef>
              <a:buSzPct val="95833"/>
              <a:buFont typeface="Wingdings" panose="05000000000000000000" pitchFamily="2" charset="2"/>
              <a:buChar char="Ø"/>
              <a:tabLst>
                <a:tab pos="118745" algn="l"/>
              </a:tabLst>
            </a:pPr>
            <a:endParaRPr sz="2400" dirty="0">
              <a:latin typeface="Calibri"/>
              <a:cs typeface="Calibri"/>
            </a:endParaRPr>
          </a:p>
        </p:txBody>
      </p:sp>
      <p:pic>
        <p:nvPicPr>
          <p:cNvPr id="4" name="object 4">
            <a:extLst>
              <a:ext uri="{FF2B5EF4-FFF2-40B4-BE49-F238E27FC236}">
                <a16:creationId xmlns:a16="http://schemas.microsoft.com/office/drawing/2014/main" id="{0524F220-45D0-B6CD-3406-533726CF032A}"/>
              </a:ext>
            </a:extLst>
          </p:cNvPr>
          <p:cNvPicPr/>
          <p:nvPr/>
        </p:nvPicPr>
        <p:blipFill>
          <a:blip r:embed="rId2" cstate="print"/>
          <a:stretch>
            <a:fillRect/>
          </a:stretch>
        </p:blipFill>
        <p:spPr>
          <a:xfrm>
            <a:off x="9296400" y="152400"/>
            <a:ext cx="2362200" cy="609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69493" y="713613"/>
            <a:ext cx="10372090" cy="4444807"/>
          </a:xfrm>
          <a:prstGeom prst="rect">
            <a:avLst/>
          </a:prstGeom>
        </p:spPr>
        <p:txBody>
          <a:bodyPr vert="horz" wrap="square" lIns="0" tIns="12700" rIns="0" bIns="0" rtlCol="0">
            <a:spAutoFit/>
          </a:bodyPr>
          <a:lstStyle/>
          <a:p>
            <a:pPr marL="12700">
              <a:lnSpc>
                <a:spcPct val="100000"/>
              </a:lnSpc>
              <a:spcBef>
                <a:spcPts val="100"/>
              </a:spcBef>
            </a:pPr>
            <a:endParaRPr sz="2400" dirty="0">
              <a:latin typeface="Times New Roman"/>
              <a:cs typeface="Times New Roman"/>
            </a:endParaRPr>
          </a:p>
          <a:p>
            <a:pPr marL="12700" marR="95885">
              <a:lnSpc>
                <a:spcPct val="100000"/>
              </a:lnSpc>
            </a:pPr>
            <a:endParaRPr lang="en-IN" sz="2400" spc="-10" dirty="0">
              <a:latin typeface="Times New Roman"/>
              <a:cs typeface="Times New Roman"/>
            </a:endParaRPr>
          </a:p>
          <a:p>
            <a:pPr marL="12700" marR="95885">
              <a:lnSpc>
                <a:spcPct val="100000"/>
              </a:lnSpc>
            </a:pPr>
            <a:endParaRPr lang="en-IN" sz="2400" spc="-10" dirty="0">
              <a:latin typeface="Times New Roman"/>
              <a:cs typeface="Times New Roman"/>
            </a:endParaRPr>
          </a:p>
          <a:p>
            <a:pPr marL="12700" marR="95885">
              <a:lnSpc>
                <a:spcPct val="100000"/>
              </a:lnSpc>
            </a:pPr>
            <a:endParaRPr lang="en-IN" sz="2400" spc="-10" dirty="0">
              <a:latin typeface="Times New Roman"/>
              <a:cs typeface="Times New Roman"/>
            </a:endParaRPr>
          </a:p>
          <a:p>
            <a:pPr marL="12700" marR="95885">
              <a:lnSpc>
                <a:spcPct val="100000"/>
              </a:lnSpc>
            </a:pPr>
            <a:endParaRPr lang="en-IN" sz="2400" spc="-10" dirty="0">
              <a:latin typeface="Times New Roman"/>
              <a:cs typeface="Times New Roman"/>
            </a:endParaRPr>
          </a:p>
          <a:p>
            <a:pPr marL="12700" marR="95885">
              <a:lnSpc>
                <a:spcPct val="100000"/>
              </a:lnSpc>
            </a:pPr>
            <a:endParaRPr lang="en-IN" sz="2400" spc="-10" dirty="0">
              <a:latin typeface="Times New Roman"/>
              <a:cs typeface="Times New Roman"/>
            </a:endParaRPr>
          </a:p>
          <a:p>
            <a:pPr marL="12700" marR="95885">
              <a:lnSpc>
                <a:spcPct val="100000"/>
              </a:lnSpc>
            </a:pPr>
            <a:endParaRPr lang="en-IN" sz="2400" spc="-10" dirty="0">
              <a:latin typeface="Times New Roman"/>
              <a:cs typeface="Times New Roman"/>
            </a:endParaRPr>
          </a:p>
          <a:p>
            <a:pPr marL="12700" marR="95885">
              <a:lnSpc>
                <a:spcPct val="100000"/>
              </a:lnSpc>
            </a:pPr>
            <a:endParaRPr lang="en-IN" sz="2400" spc="-10" dirty="0">
              <a:latin typeface="Times New Roman"/>
              <a:cs typeface="Times New Roman"/>
            </a:endParaRPr>
          </a:p>
          <a:p>
            <a:pPr marL="12700" marR="95885">
              <a:lnSpc>
                <a:spcPct val="100000"/>
              </a:lnSpc>
            </a:pPr>
            <a:endParaRPr lang="en-IN" sz="2400" spc="-10" dirty="0">
              <a:latin typeface="Times New Roman"/>
              <a:cs typeface="Times New Roman"/>
            </a:endParaRPr>
          </a:p>
          <a:p>
            <a:pPr marL="12700" marR="95885">
              <a:lnSpc>
                <a:spcPct val="100000"/>
              </a:lnSpc>
            </a:pPr>
            <a:endParaRPr lang="en-IN" sz="2400" spc="-10" dirty="0">
              <a:latin typeface="Times New Roman"/>
              <a:cs typeface="Times New Roman"/>
            </a:endParaRPr>
          </a:p>
          <a:p>
            <a:pPr marL="12700" marR="95885">
              <a:lnSpc>
                <a:spcPct val="100000"/>
              </a:lnSpc>
            </a:pPr>
            <a:endParaRPr lang="en-IN" sz="2400" spc="-10" dirty="0">
              <a:latin typeface="Times New Roman"/>
              <a:cs typeface="Times New Roman"/>
            </a:endParaRPr>
          </a:p>
          <a:p>
            <a:pPr marL="12700" marR="95885">
              <a:lnSpc>
                <a:spcPct val="100000"/>
              </a:lnSpc>
            </a:pPr>
            <a:endParaRPr sz="2400" dirty="0">
              <a:latin typeface="Times New Roman"/>
              <a:cs typeface="Times New Roman"/>
            </a:endParaRPr>
          </a:p>
        </p:txBody>
      </p:sp>
      <p:sp>
        <p:nvSpPr>
          <p:cNvPr id="3" name="object 3"/>
          <p:cNvSpPr txBox="1">
            <a:spLocks noGrp="1"/>
          </p:cNvSpPr>
          <p:nvPr>
            <p:ph type="title"/>
          </p:nvPr>
        </p:nvSpPr>
        <p:spPr>
          <a:xfrm>
            <a:off x="469492" y="186309"/>
            <a:ext cx="5397907" cy="443070"/>
          </a:xfrm>
          <a:prstGeom prst="rect">
            <a:avLst/>
          </a:prstGeom>
        </p:spPr>
        <p:txBody>
          <a:bodyPr vert="horz" wrap="square" lIns="0" tIns="12065" rIns="0" bIns="0" rtlCol="0">
            <a:spAutoFit/>
          </a:bodyPr>
          <a:lstStyle/>
          <a:p>
            <a:pPr marL="12700">
              <a:lnSpc>
                <a:spcPct val="100000"/>
              </a:lnSpc>
              <a:spcBef>
                <a:spcPts val="95"/>
              </a:spcBef>
            </a:pPr>
            <a:r>
              <a:rPr lang="en-US" spc="-20" dirty="0"/>
              <a:t>SYSTEM ARCHITECTURE</a:t>
            </a:r>
            <a:endParaRPr spc="-20" dirty="0"/>
          </a:p>
        </p:txBody>
      </p:sp>
      <p:sp>
        <p:nvSpPr>
          <p:cNvPr id="6" name="Rectangle 3">
            <a:extLst>
              <a:ext uri="{FF2B5EF4-FFF2-40B4-BE49-F238E27FC236}">
                <a16:creationId xmlns:a16="http://schemas.microsoft.com/office/drawing/2014/main" id="{0660460B-29A5-54A3-9812-28C995546B1C}"/>
              </a:ext>
            </a:extLst>
          </p:cNvPr>
          <p:cNvSpPr>
            <a:spLocks noChangeArrowheads="1"/>
          </p:cNvSpPr>
          <p:nvPr/>
        </p:nvSpPr>
        <p:spPr bwMode="auto">
          <a:xfrm>
            <a:off x="685800" y="1851575"/>
            <a:ext cx="9220200"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2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object 4">
            <a:extLst>
              <a:ext uri="{FF2B5EF4-FFF2-40B4-BE49-F238E27FC236}">
                <a16:creationId xmlns:a16="http://schemas.microsoft.com/office/drawing/2014/main" id="{F0BC96CC-4449-32F6-FF07-0E460D73E80B}"/>
              </a:ext>
            </a:extLst>
          </p:cNvPr>
          <p:cNvPicPr/>
          <p:nvPr/>
        </p:nvPicPr>
        <p:blipFill>
          <a:blip r:embed="rId2" cstate="print"/>
          <a:stretch>
            <a:fillRect/>
          </a:stretch>
        </p:blipFill>
        <p:spPr>
          <a:xfrm>
            <a:off x="9906000" y="152400"/>
            <a:ext cx="1524000" cy="762000"/>
          </a:xfrm>
          <a:prstGeom prst="rect">
            <a:avLst/>
          </a:prstGeom>
        </p:spPr>
      </p:pic>
      <p:pic>
        <p:nvPicPr>
          <p:cNvPr id="5" name="Picture 4">
            <a:extLst>
              <a:ext uri="{FF2B5EF4-FFF2-40B4-BE49-F238E27FC236}">
                <a16:creationId xmlns:a16="http://schemas.microsoft.com/office/drawing/2014/main" id="{10F236F5-6664-911E-7AA9-CE0A301C4B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77602" y="1017587"/>
            <a:ext cx="4836795" cy="48228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3C598-EC4C-905C-23B7-E3900BB4ED98}"/>
              </a:ext>
            </a:extLst>
          </p:cNvPr>
          <p:cNvSpPr>
            <a:spLocks noGrp="1"/>
          </p:cNvSpPr>
          <p:nvPr>
            <p:ph type="title"/>
          </p:nvPr>
        </p:nvSpPr>
        <p:spPr>
          <a:xfrm>
            <a:off x="179019" y="75133"/>
            <a:ext cx="7280656" cy="430887"/>
          </a:xfrm>
        </p:spPr>
        <p:txBody>
          <a:bodyPr/>
          <a:lstStyle/>
          <a:p>
            <a:r>
              <a:rPr lang="en-US" dirty="0"/>
              <a:t>STEP-BY-STEP WORKING</a:t>
            </a:r>
            <a:endParaRPr lang="en-IN" dirty="0"/>
          </a:p>
        </p:txBody>
      </p:sp>
      <p:sp>
        <p:nvSpPr>
          <p:cNvPr id="3" name="Text Placeholder 2">
            <a:extLst>
              <a:ext uri="{FF2B5EF4-FFF2-40B4-BE49-F238E27FC236}">
                <a16:creationId xmlns:a16="http://schemas.microsoft.com/office/drawing/2014/main" id="{72159A1C-3534-3057-5DD5-2A1F9B75826C}"/>
              </a:ext>
            </a:extLst>
          </p:cNvPr>
          <p:cNvSpPr>
            <a:spLocks noGrp="1"/>
          </p:cNvSpPr>
          <p:nvPr>
            <p:ph type="body" idx="1"/>
          </p:nvPr>
        </p:nvSpPr>
        <p:spPr>
          <a:xfrm>
            <a:off x="304800" y="457200"/>
            <a:ext cx="10719283" cy="6337221"/>
          </a:xfrm>
        </p:spPr>
        <p:txBody>
          <a:bodyPr/>
          <a:lstStyle/>
          <a:p>
            <a:endParaRPr lang="en-US" b="1" dirty="0"/>
          </a:p>
          <a:p>
            <a:pPr marL="457200" indent="-457200" algn="just">
              <a:lnSpc>
                <a:spcPct val="150000"/>
              </a:lnSpc>
              <a:buFont typeface="Arial" panose="020B0604020202020204" pitchFamily="34" charset="0"/>
              <a:buChar char="•"/>
            </a:pPr>
            <a:r>
              <a:rPr lang="en-US" dirty="0"/>
              <a:t>User creates profile (Name, Email, Skills).</a:t>
            </a:r>
          </a:p>
          <a:p>
            <a:pPr marL="457200" indent="-457200" algn="just">
              <a:lnSpc>
                <a:spcPct val="150000"/>
              </a:lnSpc>
              <a:buFont typeface="Arial" panose="020B0604020202020204" pitchFamily="34" charset="0"/>
              <a:buChar char="•"/>
            </a:pPr>
            <a:r>
              <a:rPr lang="en-US" dirty="0"/>
              <a:t>Data is stored in SQLite database.</a:t>
            </a:r>
          </a:p>
          <a:p>
            <a:pPr marL="457200" indent="-457200" algn="just">
              <a:lnSpc>
                <a:spcPct val="150000"/>
              </a:lnSpc>
              <a:buFont typeface="Arial" panose="020B0604020202020204" pitchFamily="34" charset="0"/>
              <a:buChar char="•"/>
            </a:pPr>
            <a:r>
              <a:rPr lang="en-US" dirty="0"/>
              <a:t>User enters skills for matching.</a:t>
            </a:r>
          </a:p>
          <a:p>
            <a:pPr marL="457200" indent="-457200" algn="just">
              <a:lnSpc>
                <a:spcPct val="150000"/>
              </a:lnSpc>
              <a:buFont typeface="Arial" panose="020B0604020202020204" pitchFamily="34" charset="0"/>
              <a:buChar char="•"/>
            </a:pPr>
            <a:r>
              <a:rPr lang="en-US" dirty="0"/>
              <a:t>TF-IDF converts text skills into vectors.</a:t>
            </a:r>
          </a:p>
          <a:p>
            <a:pPr marL="457200" indent="-457200" algn="just">
              <a:lnSpc>
                <a:spcPct val="150000"/>
              </a:lnSpc>
              <a:buFont typeface="Arial" panose="020B0604020202020204" pitchFamily="34" charset="0"/>
              <a:buChar char="•"/>
            </a:pPr>
            <a:r>
              <a:rPr lang="en-US" dirty="0"/>
              <a:t>Cosine Similarity calculates similarity between users.</a:t>
            </a:r>
          </a:p>
          <a:p>
            <a:pPr marL="457200" indent="-457200" algn="just">
              <a:lnSpc>
                <a:spcPct val="150000"/>
              </a:lnSpc>
              <a:buFont typeface="Arial" panose="020B0604020202020204" pitchFamily="34" charset="0"/>
              <a:buChar char="•"/>
            </a:pPr>
            <a:r>
              <a:rPr lang="en-US" dirty="0"/>
              <a:t>Top 5 similar users are displayed with confidence scores.</a:t>
            </a:r>
          </a:p>
          <a:p>
            <a:pPr marL="457200" indent="-457200" algn="just">
              <a:lnSpc>
                <a:spcPct val="150000"/>
              </a:lnSpc>
              <a:buFont typeface="Arial" panose="020B0604020202020204" pitchFamily="34" charset="0"/>
              <a:buChar char="•"/>
            </a:pPr>
            <a:r>
              <a:rPr lang="en-US" dirty="0"/>
              <a:t>Users can send messages through Chat module.</a:t>
            </a:r>
          </a:p>
          <a:p>
            <a:pPr marL="457200" indent="-457200" algn="just">
              <a:lnSpc>
                <a:spcPct val="150000"/>
              </a:lnSpc>
              <a:buFont typeface="Arial" panose="020B0604020202020204" pitchFamily="34" charset="0"/>
              <a:buChar char="•"/>
            </a:pPr>
            <a:r>
              <a:rPr lang="en-US" dirty="0"/>
              <a:t>Dashboard shows statistics and model accuracy.</a:t>
            </a:r>
          </a:p>
          <a:p>
            <a:endParaRPr lang="en-IN" dirty="0"/>
          </a:p>
        </p:txBody>
      </p:sp>
      <p:pic>
        <p:nvPicPr>
          <p:cNvPr id="4" name="object 4">
            <a:extLst>
              <a:ext uri="{FF2B5EF4-FFF2-40B4-BE49-F238E27FC236}">
                <a16:creationId xmlns:a16="http://schemas.microsoft.com/office/drawing/2014/main" id="{694CCA92-4336-F978-B9B7-109395932470}"/>
              </a:ext>
            </a:extLst>
          </p:cNvPr>
          <p:cNvPicPr/>
          <p:nvPr/>
        </p:nvPicPr>
        <p:blipFill>
          <a:blip r:embed="rId2" cstate="print"/>
          <a:stretch>
            <a:fillRect/>
          </a:stretch>
        </p:blipFill>
        <p:spPr>
          <a:xfrm>
            <a:off x="9906000" y="152400"/>
            <a:ext cx="1524000" cy="762000"/>
          </a:xfrm>
          <a:prstGeom prst="rect">
            <a:avLst/>
          </a:prstGeom>
        </p:spPr>
      </p:pic>
    </p:spTree>
    <p:extLst>
      <p:ext uri="{BB962C8B-B14F-4D97-AF65-F5344CB8AC3E}">
        <p14:creationId xmlns:p14="http://schemas.microsoft.com/office/powerpoint/2010/main" val="2129067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3400" y="914400"/>
            <a:ext cx="10734598" cy="8888972"/>
          </a:xfrm>
          <a:prstGeom prst="rect">
            <a:avLst/>
          </a:prstGeom>
        </p:spPr>
        <p:txBody>
          <a:bodyPr vert="horz" wrap="square" lIns="0" tIns="12065" rIns="0" bIns="0" rtlCol="0">
            <a:spAutoFit/>
          </a:bodyPr>
          <a:lstStyle/>
          <a:p>
            <a:pPr marL="342900" indent="-342900">
              <a:lnSpc>
                <a:spcPct val="150000"/>
              </a:lnSpc>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Platform</a:t>
            </a:r>
          </a:p>
          <a:p>
            <a:pPr>
              <a:lnSpc>
                <a:spcPct val="150000"/>
              </a:lnSpc>
            </a:pPr>
            <a:r>
              <a:rPr lang="en-US" sz="2400" b="1" dirty="0">
                <a:latin typeface="Times New Roman" panose="02020603050405020304" pitchFamily="18" charset="0"/>
                <a:cs typeface="Times New Roman" panose="02020603050405020304" pitchFamily="18" charset="0"/>
              </a:rPr>
              <a:t>Google </a:t>
            </a:r>
            <a:r>
              <a:rPr lang="en-US" sz="2400" b="1" dirty="0" err="1">
                <a:latin typeface="Times New Roman" panose="02020603050405020304" pitchFamily="18" charset="0"/>
                <a:cs typeface="Times New Roman" panose="02020603050405020304" pitchFamily="18" charset="0"/>
              </a:rPr>
              <a:t>Colab:</a:t>
            </a:r>
            <a:r>
              <a:rPr lang="en-US" sz="2400" dirty="0" err="1">
                <a:latin typeface="Times New Roman" panose="02020603050405020304" pitchFamily="18" charset="0"/>
                <a:cs typeface="Times New Roman" panose="02020603050405020304" pitchFamily="18" charset="0"/>
              </a:rPr>
              <a:t>Used</a:t>
            </a:r>
            <a:r>
              <a:rPr lang="en-US" sz="2400" dirty="0">
                <a:latin typeface="Times New Roman" panose="02020603050405020304" pitchFamily="18" charset="0"/>
                <a:cs typeface="Times New Roman" panose="02020603050405020304" pitchFamily="18" charset="0"/>
              </a:rPr>
              <a:t> as an online platform to develop and run the Python code.</a:t>
            </a:r>
          </a:p>
          <a:p>
            <a:pPr marL="342900" indent="-342900">
              <a:lnSpc>
                <a:spcPct val="150000"/>
              </a:lnSpc>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Frontend</a:t>
            </a:r>
          </a:p>
          <a:p>
            <a:pPr>
              <a:lnSpc>
                <a:spcPct val="150000"/>
              </a:lnSpc>
            </a:pPr>
            <a:r>
              <a:rPr lang="en-US" sz="2400" b="1" dirty="0" err="1">
                <a:latin typeface="Times New Roman" panose="02020603050405020304" pitchFamily="18" charset="0"/>
                <a:cs typeface="Times New Roman" panose="02020603050405020304" pitchFamily="18" charset="0"/>
              </a:rPr>
              <a:t>Gradio</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Interface:</a:t>
            </a:r>
            <a:r>
              <a:rPr lang="en-US" sz="2400" dirty="0" err="1">
                <a:latin typeface="Times New Roman" panose="02020603050405020304" pitchFamily="18" charset="0"/>
                <a:cs typeface="Times New Roman" panose="02020603050405020304" pitchFamily="18" charset="0"/>
              </a:rPr>
              <a:t>Used</a:t>
            </a:r>
            <a:r>
              <a:rPr lang="en-US" sz="2400" dirty="0">
                <a:latin typeface="Times New Roman" panose="02020603050405020304" pitchFamily="18" charset="0"/>
                <a:cs typeface="Times New Roman" panose="02020603050405020304" pitchFamily="18" charset="0"/>
              </a:rPr>
              <a:t> to create a simple user interface for entering skills and displaying recommendations.</a:t>
            </a:r>
          </a:p>
          <a:p>
            <a:pPr marL="342900" indent="-342900">
              <a:lnSpc>
                <a:spcPct val="150000"/>
              </a:lnSpc>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Backend</a:t>
            </a:r>
          </a:p>
          <a:p>
            <a:pPr>
              <a:lnSpc>
                <a:spcPct val="150000"/>
              </a:lnSpc>
            </a:pPr>
            <a:r>
              <a:rPr lang="en-US" sz="2400" b="1" dirty="0" err="1">
                <a:latin typeface="Times New Roman" panose="02020603050405020304" pitchFamily="18" charset="0"/>
                <a:cs typeface="Times New Roman" panose="02020603050405020304" pitchFamily="18" charset="0"/>
              </a:rPr>
              <a:t>Python:</a:t>
            </a:r>
            <a:r>
              <a:rPr lang="en-US" sz="2400" dirty="0" err="1">
                <a:latin typeface="Times New Roman" panose="02020603050405020304" pitchFamily="18" charset="0"/>
                <a:cs typeface="Times New Roman" panose="02020603050405020304" pitchFamily="18" charset="0"/>
              </a:rPr>
              <a:t>Main</a:t>
            </a:r>
            <a:r>
              <a:rPr lang="en-US" sz="2400" dirty="0">
                <a:latin typeface="Times New Roman" panose="02020603050405020304" pitchFamily="18" charset="0"/>
                <a:cs typeface="Times New Roman" panose="02020603050405020304" pitchFamily="18" charset="0"/>
              </a:rPr>
              <a:t> programming language used to implement the system logic.</a:t>
            </a:r>
          </a:p>
          <a:p>
            <a:pPr marL="1905">
              <a:lnSpc>
                <a:spcPct val="150000"/>
              </a:lnSpc>
              <a:buSzPct val="96428"/>
              <a:tabLst>
                <a:tab pos="135255" algn="l"/>
              </a:tabLst>
            </a:pPr>
            <a:r>
              <a:rPr lang="en-US" sz="2400" b="1" dirty="0">
                <a:latin typeface="Times New Roman"/>
                <a:cs typeface="Times New Roman"/>
              </a:rPr>
              <a:t>NumPy:</a:t>
            </a:r>
            <a:r>
              <a:rPr lang="en-US" sz="2400" b="1" spc="-10" dirty="0">
                <a:latin typeface="Times New Roman"/>
                <a:cs typeface="Times New Roman"/>
              </a:rPr>
              <a:t> </a:t>
            </a:r>
            <a:r>
              <a:rPr lang="en-US" sz="2400" dirty="0">
                <a:latin typeface="Times New Roman"/>
                <a:cs typeface="Times New Roman"/>
              </a:rPr>
              <a:t>Used</a:t>
            </a:r>
            <a:r>
              <a:rPr lang="en-US" sz="2400" spc="-50" dirty="0">
                <a:latin typeface="Times New Roman"/>
                <a:cs typeface="Times New Roman"/>
              </a:rPr>
              <a:t> </a:t>
            </a:r>
            <a:r>
              <a:rPr lang="en-US" sz="2400" dirty="0">
                <a:latin typeface="Times New Roman"/>
                <a:cs typeface="Times New Roman"/>
              </a:rPr>
              <a:t>for</a:t>
            </a:r>
            <a:r>
              <a:rPr lang="en-US" sz="2400" spc="-30" dirty="0">
                <a:latin typeface="Times New Roman"/>
                <a:cs typeface="Times New Roman"/>
              </a:rPr>
              <a:t> </a:t>
            </a:r>
            <a:r>
              <a:rPr lang="en-US" sz="2400" dirty="0">
                <a:latin typeface="Times New Roman"/>
                <a:cs typeface="Times New Roman"/>
              </a:rPr>
              <a:t>numerical</a:t>
            </a:r>
            <a:r>
              <a:rPr lang="en-US" sz="2400" spc="-35" dirty="0">
                <a:latin typeface="Times New Roman"/>
                <a:cs typeface="Times New Roman"/>
              </a:rPr>
              <a:t> </a:t>
            </a:r>
            <a:r>
              <a:rPr lang="en-US" sz="2400" spc="-10" dirty="0">
                <a:latin typeface="Times New Roman"/>
                <a:cs typeface="Times New Roman"/>
              </a:rPr>
              <a:t>computations</a:t>
            </a:r>
            <a:endParaRPr lang="en-US" sz="2400" dirty="0">
              <a:latin typeface="Times New Roman"/>
              <a:cs typeface="Times New Roman"/>
            </a:endParaRPr>
          </a:p>
          <a:p>
            <a:pPr marL="1905">
              <a:lnSpc>
                <a:spcPct val="150000"/>
              </a:lnSpc>
              <a:spcBef>
                <a:spcPts val="5"/>
              </a:spcBef>
              <a:buSzPct val="96428"/>
              <a:tabLst>
                <a:tab pos="135255" algn="l"/>
              </a:tabLst>
            </a:pPr>
            <a:r>
              <a:rPr lang="en-US" sz="2400" b="1" dirty="0">
                <a:latin typeface="Times New Roman"/>
                <a:cs typeface="Times New Roman"/>
              </a:rPr>
              <a:t>Pandas:</a:t>
            </a:r>
            <a:r>
              <a:rPr lang="en-US" sz="2400" b="1" spc="-35" dirty="0">
                <a:latin typeface="Times New Roman"/>
                <a:cs typeface="Times New Roman"/>
              </a:rPr>
              <a:t> </a:t>
            </a:r>
            <a:r>
              <a:rPr lang="en-US" sz="2400" dirty="0">
                <a:latin typeface="Times New Roman"/>
                <a:cs typeface="Times New Roman"/>
              </a:rPr>
              <a:t>Used</a:t>
            </a:r>
            <a:r>
              <a:rPr lang="en-US" sz="2400" spc="-40" dirty="0">
                <a:latin typeface="Times New Roman"/>
                <a:cs typeface="Times New Roman"/>
              </a:rPr>
              <a:t> </a:t>
            </a:r>
            <a:r>
              <a:rPr lang="en-US" sz="2400" dirty="0">
                <a:latin typeface="Times New Roman"/>
                <a:cs typeface="Times New Roman"/>
              </a:rPr>
              <a:t>for</a:t>
            </a:r>
            <a:r>
              <a:rPr lang="en-US" sz="2400" spc="-55" dirty="0">
                <a:latin typeface="Times New Roman"/>
                <a:cs typeface="Times New Roman"/>
              </a:rPr>
              <a:t> </a:t>
            </a:r>
            <a:r>
              <a:rPr lang="en-US" sz="2400" dirty="0">
                <a:latin typeface="Times New Roman"/>
                <a:cs typeface="Times New Roman"/>
              </a:rPr>
              <a:t>data</a:t>
            </a:r>
            <a:r>
              <a:rPr lang="en-US" sz="2400" spc="-55" dirty="0">
                <a:latin typeface="Times New Roman"/>
                <a:cs typeface="Times New Roman"/>
              </a:rPr>
              <a:t> </a:t>
            </a:r>
            <a:r>
              <a:rPr lang="en-US" sz="2400" dirty="0">
                <a:latin typeface="Times New Roman"/>
                <a:cs typeface="Times New Roman"/>
              </a:rPr>
              <a:t>handling</a:t>
            </a:r>
            <a:r>
              <a:rPr lang="en-US" sz="2400" spc="-70" dirty="0">
                <a:latin typeface="Times New Roman"/>
                <a:cs typeface="Times New Roman"/>
              </a:rPr>
              <a:t> </a:t>
            </a:r>
            <a:r>
              <a:rPr lang="en-US" sz="2400" dirty="0">
                <a:latin typeface="Times New Roman"/>
                <a:cs typeface="Times New Roman"/>
              </a:rPr>
              <a:t>and</a:t>
            </a:r>
            <a:r>
              <a:rPr lang="en-US" sz="2400" spc="-40" dirty="0">
                <a:latin typeface="Times New Roman"/>
                <a:cs typeface="Times New Roman"/>
              </a:rPr>
              <a:t> </a:t>
            </a:r>
            <a:r>
              <a:rPr lang="en-US" sz="2400" spc="-10" dirty="0">
                <a:latin typeface="Times New Roman"/>
                <a:cs typeface="Times New Roman"/>
              </a:rPr>
              <a:t>preprocessing</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b="1" dirty="0" err="1">
                <a:latin typeface="Times New Roman" panose="02020603050405020304" pitchFamily="18" charset="0"/>
                <a:cs typeface="Times New Roman" panose="02020603050405020304" pitchFamily="18" charset="0"/>
              </a:rPr>
              <a:t>Scikit-learn:</a:t>
            </a:r>
            <a:r>
              <a:rPr lang="en-US" sz="2400" dirty="0" err="1">
                <a:latin typeface="Times New Roman" panose="02020603050405020304" pitchFamily="18" charset="0"/>
                <a:cs typeface="Times New Roman" panose="02020603050405020304" pitchFamily="18" charset="0"/>
              </a:rPr>
              <a:t>Used</a:t>
            </a:r>
            <a:r>
              <a:rPr lang="en-US" sz="2400" dirty="0">
                <a:latin typeface="Times New Roman" panose="02020603050405020304" pitchFamily="18" charset="0"/>
                <a:cs typeface="Times New Roman" panose="02020603050405020304" pitchFamily="18" charset="0"/>
              </a:rPr>
              <a:t> to implement machine learning techniques.</a:t>
            </a:r>
          </a:p>
          <a:p>
            <a:pPr>
              <a:lnSpc>
                <a:spcPct val="150000"/>
              </a:lnSpc>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pPr algn="just">
              <a:lnSpc>
                <a:spcPct val="150000"/>
              </a:lnSpc>
            </a:pPr>
            <a:endParaRPr lang="en-IN" sz="2400" dirty="0">
              <a:latin typeface="Times New Roman" panose="02020603050405020304" pitchFamily="18" charset="0"/>
              <a:cs typeface="Times New Roman" panose="02020603050405020304" pitchFamily="18" charset="0"/>
            </a:endParaRPr>
          </a:p>
          <a:p>
            <a:pPr marL="457200" indent="-457200">
              <a:lnSpc>
                <a:spcPct val="200000"/>
              </a:lnSpc>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12700">
              <a:lnSpc>
                <a:spcPct val="100000"/>
              </a:lnSpc>
              <a:spcBef>
                <a:spcPts val="95"/>
              </a:spcBef>
            </a:pPr>
            <a:endParaRPr sz="2800" dirty="0">
              <a:latin typeface="Times New Roman"/>
              <a:cs typeface="Times New Roman"/>
            </a:endParaRPr>
          </a:p>
        </p:txBody>
      </p:sp>
      <p:sp>
        <p:nvSpPr>
          <p:cNvPr id="3" name="object 3"/>
          <p:cNvSpPr txBox="1">
            <a:spLocks noGrp="1"/>
          </p:cNvSpPr>
          <p:nvPr>
            <p:ph type="title"/>
          </p:nvPr>
        </p:nvSpPr>
        <p:spPr>
          <a:xfrm>
            <a:off x="179019" y="75133"/>
            <a:ext cx="7280656" cy="709810"/>
          </a:xfrm>
          <a:prstGeom prst="rect">
            <a:avLst/>
          </a:prstGeom>
        </p:spPr>
        <p:txBody>
          <a:bodyPr vert="horz" wrap="square" lIns="0" tIns="276225" rIns="0" bIns="0" rtlCol="0">
            <a:spAutoFit/>
          </a:bodyPr>
          <a:lstStyle/>
          <a:p>
            <a:pPr marL="248285">
              <a:lnSpc>
                <a:spcPct val="100000"/>
              </a:lnSpc>
              <a:spcBef>
                <a:spcPts val="95"/>
              </a:spcBef>
            </a:pPr>
            <a:r>
              <a:rPr lang="en-US" spc="-10" dirty="0"/>
              <a:t>TOOLS &amp;</a:t>
            </a:r>
            <a:r>
              <a:rPr spc="-10" dirty="0"/>
              <a:t>TECHNOLOGIES</a:t>
            </a:r>
            <a:r>
              <a:rPr lang="en-US" spc="-10" dirty="0"/>
              <a:t> USED</a:t>
            </a:r>
            <a:endParaRPr spc="-10" dirty="0"/>
          </a:p>
        </p:txBody>
      </p:sp>
      <p:pic>
        <p:nvPicPr>
          <p:cNvPr id="4" name="object 4">
            <a:extLst>
              <a:ext uri="{FF2B5EF4-FFF2-40B4-BE49-F238E27FC236}">
                <a16:creationId xmlns:a16="http://schemas.microsoft.com/office/drawing/2014/main" id="{8BD6FF11-6B29-1CF6-202E-EC8578A11950}"/>
              </a:ext>
            </a:extLst>
          </p:cNvPr>
          <p:cNvPicPr/>
          <p:nvPr/>
        </p:nvPicPr>
        <p:blipFill>
          <a:blip r:embed="rId2" cstate="print"/>
          <a:stretch>
            <a:fillRect/>
          </a:stretch>
        </p:blipFill>
        <p:spPr>
          <a:xfrm>
            <a:off x="9906000" y="152400"/>
            <a:ext cx="2286000" cy="94881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928CBAA-6031-E846-6184-576B592671C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63F3A85-727B-6116-1DA0-2A74B6AA027E}"/>
              </a:ext>
            </a:extLst>
          </p:cNvPr>
          <p:cNvSpPr txBox="1"/>
          <p:nvPr/>
        </p:nvSpPr>
        <p:spPr>
          <a:xfrm>
            <a:off x="457200" y="762000"/>
            <a:ext cx="10972800" cy="6596036"/>
          </a:xfrm>
          <a:prstGeom prst="rect">
            <a:avLst/>
          </a:prstGeom>
        </p:spPr>
        <p:txBody>
          <a:bodyPr vert="horz" wrap="square" lIns="0" tIns="12065" rIns="0" bIns="0" rtlCol="0">
            <a:spAutoFit/>
          </a:bodyPr>
          <a:lstStyle/>
          <a:p>
            <a:pPr marL="342900" indent="-342900">
              <a:lnSpc>
                <a:spcPct val="150000"/>
              </a:lnSpc>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Algorithms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TF-IDF :</a:t>
            </a:r>
            <a:r>
              <a:rPr lang="en-US" sz="2400" dirty="0">
                <a:latin typeface="Times New Roman" panose="02020603050405020304" pitchFamily="18" charset="0"/>
                <a:cs typeface="Times New Roman" panose="02020603050405020304" pitchFamily="18" charset="0"/>
              </a:rPr>
              <a:t>Used to convert skill text into numerical vectors. </a:t>
            </a:r>
          </a:p>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Cosine Similarity: </a:t>
            </a:r>
            <a:r>
              <a:rPr lang="en-US" sz="2400" dirty="0">
                <a:latin typeface="Times New Roman" panose="02020603050405020304" pitchFamily="18" charset="0"/>
                <a:cs typeface="Times New Roman" panose="02020603050405020304" pitchFamily="18" charset="0"/>
              </a:rPr>
              <a:t>Used to measure similarity between student skills and generate recommendations.</a:t>
            </a:r>
          </a:p>
          <a:p>
            <a:pPr marL="342900" indent="-342900">
              <a:lnSpc>
                <a:spcPct val="150000"/>
              </a:lnSpc>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Database</a:t>
            </a:r>
          </a:p>
          <a:p>
            <a:pPr marL="342900" indent="-342900">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SQLite:</a:t>
            </a:r>
            <a:r>
              <a:rPr lang="en-US" sz="2400" dirty="0" err="1">
                <a:latin typeface="Times New Roman" panose="02020603050405020304" pitchFamily="18" charset="0"/>
                <a:cs typeface="Times New Roman" panose="02020603050405020304" pitchFamily="18" charset="0"/>
              </a:rPr>
              <a:t>Used</a:t>
            </a:r>
            <a:r>
              <a:rPr lang="en-US" sz="2400" dirty="0">
                <a:latin typeface="Times New Roman" panose="02020603050405020304" pitchFamily="18" charset="0"/>
                <a:cs typeface="Times New Roman" panose="02020603050405020304" pitchFamily="18" charset="0"/>
              </a:rPr>
              <a:t> to store and manage student skill data.</a:t>
            </a:r>
          </a:p>
          <a:p>
            <a:endParaRPr lang="en-IN"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Hardware Requirements</a:t>
            </a:r>
          </a:p>
          <a:p>
            <a:pPr marL="344805" indent="-342900">
              <a:lnSpc>
                <a:spcPct val="100000"/>
              </a:lnSpc>
              <a:buSzPct val="96428"/>
              <a:buFont typeface="Arial" panose="020B0604020202020204" pitchFamily="34" charset="0"/>
              <a:buChar char="•"/>
              <a:tabLst>
                <a:tab pos="135255" algn="l"/>
              </a:tabLst>
            </a:pPr>
            <a:r>
              <a:rPr lang="en-IN" sz="2400" dirty="0">
                <a:latin typeface="Times New Roman"/>
                <a:cs typeface="Times New Roman"/>
              </a:rPr>
              <a:t>Standard</a:t>
            </a:r>
            <a:r>
              <a:rPr lang="en-IN" sz="2400" spc="-80" dirty="0">
                <a:latin typeface="Times New Roman"/>
                <a:cs typeface="Times New Roman"/>
              </a:rPr>
              <a:t> </a:t>
            </a:r>
            <a:r>
              <a:rPr lang="en-IN" sz="2400" dirty="0">
                <a:latin typeface="Times New Roman"/>
                <a:cs typeface="Times New Roman"/>
              </a:rPr>
              <a:t>Laptop</a:t>
            </a:r>
            <a:r>
              <a:rPr lang="en-IN" sz="2400" spc="-60" dirty="0">
                <a:latin typeface="Times New Roman"/>
                <a:cs typeface="Times New Roman"/>
              </a:rPr>
              <a:t> </a:t>
            </a:r>
            <a:r>
              <a:rPr lang="en-IN" sz="2400" dirty="0">
                <a:latin typeface="Times New Roman"/>
                <a:cs typeface="Times New Roman"/>
              </a:rPr>
              <a:t>or</a:t>
            </a:r>
            <a:r>
              <a:rPr lang="en-IN" sz="2400" spc="-75" dirty="0">
                <a:latin typeface="Times New Roman"/>
                <a:cs typeface="Times New Roman"/>
              </a:rPr>
              <a:t> </a:t>
            </a:r>
            <a:r>
              <a:rPr lang="en-IN" sz="2400" spc="-10" dirty="0">
                <a:latin typeface="Times New Roman"/>
                <a:cs typeface="Times New Roman"/>
              </a:rPr>
              <a:t>Desktop</a:t>
            </a:r>
            <a:endParaRPr lang="en-IN" sz="2400" dirty="0">
              <a:latin typeface="Times New Roman"/>
              <a:cs typeface="Times New Roman"/>
            </a:endParaRPr>
          </a:p>
          <a:p>
            <a:pPr marL="344805" indent="-342900">
              <a:lnSpc>
                <a:spcPts val="3329"/>
              </a:lnSpc>
              <a:buSzPct val="96428"/>
              <a:buFont typeface="Arial" panose="020B0604020202020204" pitchFamily="34" charset="0"/>
              <a:buChar char="•"/>
              <a:tabLst>
                <a:tab pos="135255" algn="l"/>
              </a:tabLst>
            </a:pPr>
            <a:r>
              <a:rPr lang="en-IN" sz="2400" dirty="0">
                <a:latin typeface="Times New Roman"/>
                <a:cs typeface="Times New Roman"/>
              </a:rPr>
              <a:t>Minimum</a:t>
            </a:r>
            <a:r>
              <a:rPr lang="en-IN" sz="2400" spc="-35" dirty="0">
                <a:latin typeface="Times New Roman"/>
                <a:cs typeface="Times New Roman"/>
              </a:rPr>
              <a:t> </a:t>
            </a:r>
            <a:r>
              <a:rPr lang="en-IN" sz="2400" dirty="0">
                <a:latin typeface="Times New Roman"/>
                <a:cs typeface="Times New Roman"/>
              </a:rPr>
              <a:t>4</a:t>
            </a:r>
            <a:r>
              <a:rPr lang="en-IN" sz="2400" spc="-45" dirty="0">
                <a:latin typeface="Times New Roman"/>
                <a:cs typeface="Times New Roman"/>
              </a:rPr>
              <a:t> </a:t>
            </a:r>
            <a:r>
              <a:rPr lang="en-IN" sz="2400" dirty="0">
                <a:latin typeface="Times New Roman"/>
                <a:cs typeface="Times New Roman"/>
              </a:rPr>
              <a:t>GB</a:t>
            </a:r>
            <a:r>
              <a:rPr lang="en-IN" sz="2400" spc="-45" dirty="0">
                <a:latin typeface="Times New Roman"/>
                <a:cs typeface="Times New Roman"/>
              </a:rPr>
              <a:t> </a:t>
            </a:r>
            <a:r>
              <a:rPr lang="en-IN" sz="2400" spc="-25" dirty="0">
                <a:latin typeface="Times New Roman"/>
                <a:cs typeface="Times New Roman"/>
              </a:rPr>
              <a:t>RAM</a:t>
            </a:r>
            <a:endParaRPr lang="en-US" sz="2400" spc="-25" dirty="0">
              <a:latin typeface="Times New Roman" panose="02020603050405020304" pitchFamily="18" charset="0"/>
              <a:cs typeface="Times New Roman" panose="02020603050405020304" pitchFamily="18" charset="0"/>
            </a:endParaRPr>
          </a:p>
          <a:p>
            <a:pPr marL="344805" indent="-342900">
              <a:lnSpc>
                <a:spcPts val="3329"/>
              </a:lnSpc>
              <a:buSzPct val="96428"/>
              <a:buFont typeface="Arial" panose="020B0604020202020204" pitchFamily="34" charset="0"/>
              <a:buChar char="•"/>
              <a:tabLst>
                <a:tab pos="135255" algn="l"/>
              </a:tabLst>
            </a:pPr>
            <a:r>
              <a:rPr lang="en-US" sz="2400" dirty="0">
                <a:latin typeface="Times New Roman" panose="02020603050405020304" pitchFamily="18" charset="0"/>
                <a:cs typeface="Times New Roman" panose="02020603050405020304" pitchFamily="18" charset="0"/>
              </a:rPr>
              <a:t>Required for running the project in Google </a:t>
            </a:r>
            <a:r>
              <a:rPr lang="en-US" sz="2400" dirty="0" err="1">
                <a:latin typeface="Times New Roman" panose="02020603050405020304" pitchFamily="18" charset="0"/>
                <a:cs typeface="Times New Roman" panose="02020603050405020304" pitchFamily="18" charset="0"/>
              </a:rPr>
              <a:t>Colab</a:t>
            </a:r>
            <a:r>
              <a:rPr lang="en-US" sz="2400" dirty="0">
                <a:latin typeface="Times New Roman" panose="02020603050405020304" pitchFamily="18" charset="0"/>
                <a:cs typeface="Times New Roman" panose="02020603050405020304" pitchFamily="18" charset="0"/>
              </a:rPr>
              <a:t> and accessing libraries.</a:t>
            </a:r>
          </a:p>
          <a:p>
            <a:pPr>
              <a:lnSpc>
                <a:spcPct val="200000"/>
              </a:lnSpc>
            </a:pPr>
            <a:endParaRPr lang="en-US" sz="2800" dirty="0">
              <a:latin typeface="Times New Roman" panose="02020603050405020304" pitchFamily="18" charset="0"/>
              <a:cs typeface="Times New Roman" panose="02020603050405020304" pitchFamily="18" charset="0"/>
            </a:endParaRPr>
          </a:p>
          <a:p>
            <a:pPr marL="12700">
              <a:lnSpc>
                <a:spcPct val="100000"/>
              </a:lnSpc>
              <a:spcBef>
                <a:spcPts val="95"/>
              </a:spcBef>
            </a:pPr>
            <a:endParaRPr sz="2800" dirty="0">
              <a:latin typeface="Times New Roman"/>
              <a:cs typeface="Times New Roman"/>
            </a:endParaRPr>
          </a:p>
        </p:txBody>
      </p:sp>
      <p:pic>
        <p:nvPicPr>
          <p:cNvPr id="4" name="object 4">
            <a:extLst>
              <a:ext uri="{FF2B5EF4-FFF2-40B4-BE49-F238E27FC236}">
                <a16:creationId xmlns:a16="http://schemas.microsoft.com/office/drawing/2014/main" id="{A2961E59-B0E7-9D67-C4AB-4629C0A99E7F}"/>
              </a:ext>
            </a:extLst>
          </p:cNvPr>
          <p:cNvPicPr/>
          <p:nvPr/>
        </p:nvPicPr>
        <p:blipFill>
          <a:blip r:embed="rId2" cstate="print"/>
          <a:stretch>
            <a:fillRect/>
          </a:stretch>
        </p:blipFill>
        <p:spPr>
          <a:xfrm>
            <a:off x="9906000" y="152400"/>
            <a:ext cx="2286000" cy="948813"/>
          </a:xfrm>
          <a:prstGeom prst="rect">
            <a:avLst/>
          </a:prstGeom>
        </p:spPr>
      </p:pic>
    </p:spTree>
    <p:extLst>
      <p:ext uri="{BB962C8B-B14F-4D97-AF65-F5344CB8AC3E}">
        <p14:creationId xmlns:p14="http://schemas.microsoft.com/office/powerpoint/2010/main" val="1099672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76271-6959-EA1A-916D-038F01C0981E}"/>
              </a:ext>
            </a:extLst>
          </p:cNvPr>
          <p:cNvSpPr>
            <a:spLocks noGrp="1"/>
          </p:cNvSpPr>
          <p:nvPr>
            <p:ph type="title"/>
          </p:nvPr>
        </p:nvSpPr>
        <p:spPr>
          <a:xfrm>
            <a:off x="179019" y="75133"/>
            <a:ext cx="7280656" cy="430887"/>
          </a:xfrm>
        </p:spPr>
        <p:txBody>
          <a:bodyPr/>
          <a:lstStyle/>
          <a:p>
            <a:r>
              <a:rPr lang="en-US" dirty="0"/>
              <a:t>RESULTS</a:t>
            </a:r>
            <a:endParaRPr lang="en-IN" dirty="0"/>
          </a:p>
        </p:txBody>
      </p:sp>
      <p:sp>
        <p:nvSpPr>
          <p:cNvPr id="3" name="Text Placeholder 2">
            <a:extLst>
              <a:ext uri="{FF2B5EF4-FFF2-40B4-BE49-F238E27FC236}">
                <a16:creationId xmlns:a16="http://schemas.microsoft.com/office/drawing/2014/main" id="{36787664-C80B-BA61-AADB-F6B5463E2E36}"/>
              </a:ext>
            </a:extLst>
          </p:cNvPr>
          <p:cNvSpPr>
            <a:spLocks noGrp="1"/>
          </p:cNvSpPr>
          <p:nvPr>
            <p:ph type="body" idx="1"/>
          </p:nvPr>
        </p:nvSpPr>
        <p:spPr>
          <a:xfrm>
            <a:off x="152401" y="762000"/>
            <a:ext cx="10871682" cy="738664"/>
          </a:xfrm>
        </p:spPr>
        <p:txBody>
          <a:bodyPr/>
          <a:lstStyle/>
          <a:p>
            <a:r>
              <a:rPr lang="en-US" sz="2400" b="1" dirty="0"/>
              <a:t>Profile Input Screen:</a:t>
            </a:r>
            <a:br>
              <a:rPr lang="en-US" sz="2400" dirty="0"/>
            </a:br>
            <a:r>
              <a:rPr lang="en-US" sz="2400" dirty="0"/>
              <a:t>This screen allows the user to enter their profile details and skills.</a:t>
            </a:r>
            <a:endParaRPr lang="en-IN" sz="2400" dirty="0"/>
          </a:p>
        </p:txBody>
      </p:sp>
      <p:pic>
        <p:nvPicPr>
          <p:cNvPr id="4" name="object 4">
            <a:extLst>
              <a:ext uri="{FF2B5EF4-FFF2-40B4-BE49-F238E27FC236}">
                <a16:creationId xmlns:a16="http://schemas.microsoft.com/office/drawing/2014/main" id="{88E49EC9-6581-8888-737A-39F9F5755324}"/>
              </a:ext>
            </a:extLst>
          </p:cNvPr>
          <p:cNvPicPr/>
          <p:nvPr/>
        </p:nvPicPr>
        <p:blipFill>
          <a:blip r:embed="rId2" cstate="print"/>
          <a:stretch>
            <a:fillRect/>
          </a:stretch>
        </p:blipFill>
        <p:spPr>
          <a:xfrm>
            <a:off x="9829800" y="4916"/>
            <a:ext cx="2209800" cy="762000"/>
          </a:xfrm>
          <a:prstGeom prst="rect">
            <a:avLst/>
          </a:prstGeom>
        </p:spPr>
      </p:pic>
      <p:pic>
        <p:nvPicPr>
          <p:cNvPr id="5" name="Picture 4">
            <a:extLst>
              <a:ext uri="{FF2B5EF4-FFF2-40B4-BE49-F238E27FC236}">
                <a16:creationId xmlns:a16="http://schemas.microsoft.com/office/drawing/2014/main" id="{68C21231-1BB4-EFE6-8833-E5104B9FFA8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2961" y="1752600"/>
            <a:ext cx="8534703" cy="3657600"/>
          </a:xfrm>
          <a:prstGeom prst="rect">
            <a:avLst/>
          </a:prstGeom>
        </p:spPr>
      </p:pic>
    </p:spTree>
    <p:extLst>
      <p:ext uri="{BB962C8B-B14F-4D97-AF65-F5344CB8AC3E}">
        <p14:creationId xmlns:p14="http://schemas.microsoft.com/office/powerpoint/2010/main" val="3202648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475DF-2C78-0EEF-8D12-79B9F3E1897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6F415FA-E945-3244-9129-ABA5EB18CDEE}"/>
              </a:ext>
            </a:extLst>
          </p:cNvPr>
          <p:cNvSpPr>
            <a:spLocks noGrp="1"/>
          </p:cNvSpPr>
          <p:nvPr>
            <p:ph type="body" idx="1"/>
          </p:nvPr>
        </p:nvSpPr>
        <p:spPr>
          <a:xfrm>
            <a:off x="152401" y="762000"/>
            <a:ext cx="10871682" cy="1107996"/>
          </a:xfrm>
        </p:spPr>
        <p:txBody>
          <a:bodyPr/>
          <a:lstStyle/>
          <a:p>
            <a:r>
              <a:rPr lang="en-US" sz="2400" b="1" dirty="0"/>
              <a:t>Match Results:</a:t>
            </a:r>
            <a:br>
              <a:rPr lang="en-US" sz="2400" dirty="0"/>
            </a:br>
            <a:r>
              <a:rPr lang="en-US" sz="2400" dirty="0"/>
              <a:t>The system recommends students with similar skills and shows their similarity score.</a:t>
            </a:r>
          </a:p>
          <a:p>
            <a:endParaRPr lang="en-IN" sz="2400" dirty="0"/>
          </a:p>
        </p:txBody>
      </p:sp>
      <p:pic>
        <p:nvPicPr>
          <p:cNvPr id="4" name="object 4">
            <a:extLst>
              <a:ext uri="{FF2B5EF4-FFF2-40B4-BE49-F238E27FC236}">
                <a16:creationId xmlns:a16="http://schemas.microsoft.com/office/drawing/2014/main" id="{AD488697-7887-ECC8-4FD8-761BFDE32578}"/>
              </a:ext>
            </a:extLst>
          </p:cNvPr>
          <p:cNvPicPr/>
          <p:nvPr/>
        </p:nvPicPr>
        <p:blipFill>
          <a:blip r:embed="rId2" cstate="print"/>
          <a:stretch>
            <a:fillRect/>
          </a:stretch>
        </p:blipFill>
        <p:spPr>
          <a:xfrm>
            <a:off x="9829800" y="4916"/>
            <a:ext cx="2209800" cy="762000"/>
          </a:xfrm>
          <a:prstGeom prst="rect">
            <a:avLst/>
          </a:prstGeom>
        </p:spPr>
      </p:pic>
      <p:pic>
        <p:nvPicPr>
          <p:cNvPr id="10" name="Picture 9">
            <a:extLst>
              <a:ext uri="{FF2B5EF4-FFF2-40B4-BE49-F238E27FC236}">
                <a16:creationId xmlns:a16="http://schemas.microsoft.com/office/drawing/2014/main" id="{39A43C8F-602A-E08F-60F2-6D0A78D368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0" y="1793038"/>
            <a:ext cx="8401210" cy="3921962"/>
          </a:xfrm>
          <a:prstGeom prst="rect">
            <a:avLst/>
          </a:prstGeom>
        </p:spPr>
      </p:pic>
    </p:spTree>
    <p:extLst>
      <p:ext uri="{BB962C8B-B14F-4D97-AF65-F5344CB8AC3E}">
        <p14:creationId xmlns:p14="http://schemas.microsoft.com/office/powerpoint/2010/main" val="1530718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47217" y="387172"/>
            <a:ext cx="9744710" cy="5305940"/>
          </a:xfrm>
          <a:prstGeom prst="rect">
            <a:avLst/>
          </a:prstGeom>
        </p:spPr>
        <p:txBody>
          <a:bodyPr vert="horz" wrap="square" lIns="0" tIns="12065" rIns="0" bIns="0" rtlCol="0">
            <a:spAutoFit/>
          </a:bodyPr>
          <a:lstStyle/>
          <a:p>
            <a:pPr marL="12700">
              <a:lnSpc>
                <a:spcPct val="100000"/>
              </a:lnSpc>
              <a:spcBef>
                <a:spcPts val="95"/>
              </a:spcBef>
            </a:pPr>
            <a:r>
              <a:rPr sz="2800" b="1" spc="-10" dirty="0">
                <a:solidFill>
                  <a:srgbClr val="FF0000"/>
                </a:solidFill>
                <a:latin typeface="Times New Roman"/>
                <a:cs typeface="Times New Roman"/>
              </a:rPr>
              <a:t>ADVANTAGES</a:t>
            </a:r>
            <a:endParaRPr sz="2800" dirty="0">
              <a:solidFill>
                <a:srgbClr val="FF0000"/>
              </a:solidFill>
              <a:latin typeface="Times New Roman"/>
              <a:cs typeface="Times New Roman"/>
            </a:endParaRP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Reduces hesitation and fear of asking doubts</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Encourages peer-to-peer collaborative learning</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Utilizes student knowledge effectively</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Intelligent and accurate skill matching using ML</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User friendly interface</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Lightweight and simple database system</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Cost-effective solution (no heavy infrastructure required)</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Promotes confidence and communication among students</a:t>
            </a:r>
          </a:p>
          <a:p>
            <a:pPr marL="8890">
              <a:lnSpc>
                <a:spcPct val="100000"/>
              </a:lnSpc>
              <a:buSzPct val="96428"/>
              <a:tabLst>
                <a:tab pos="278765" algn="l"/>
              </a:tabLst>
            </a:pPr>
            <a:endParaRPr sz="2800" dirty="0">
              <a:latin typeface="Times New Roman"/>
              <a:cs typeface="Times New Roman"/>
            </a:endParaRPr>
          </a:p>
        </p:txBody>
      </p:sp>
      <p:pic>
        <p:nvPicPr>
          <p:cNvPr id="3" name="object 4">
            <a:extLst>
              <a:ext uri="{FF2B5EF4-FFF2-40B4-BE49-F238E27FC236}">
                <a16:creationId xmlns:a16="http://schemas.microsoft.com/office/drawing/2014/main" id="{8A6796A5-5EC1-3E14-2152-3CA9781D1803}"/>
              </a:ext>
            </a:extLst>
          </p:cNvPr>
          <p:cNvPicPr/>
          <p:nvPr/>
        </p:nvPicPr>
        <p:blipFill>
          <a:blip r:embed="rId2" cstate="print"/>
          <a:stretch>
            <a:fillRect/>
          </a:stretch>
        </p:blipFill>
        <p:spPr>
          <a:xfrm>
            <a:off x="9753600" y="152400"/>
            <a:ext cx="2057400" cy="9144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2AF1BCA-AC74-0ADA-C68D-82FB1419714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1D0ACD4-958D-4FBF-1BF6-17986D643E85}"/>
              </a:ext>
            </a:extLst>
          </p:cNvPr>
          <p:cNvSpPr txBox="1"/>
          <p:nvPr/>
        </p:nvSpPr>
        <p:spPr>
          <a:xfrm>
            <a:off x="547217" y="387172"/>
            <a:ext cx="9744710" cy="7060266"/>
          </a:xfrm>
          <a:prstGeom prst="rect">
            <a:avLst/>
          </a:prstGeom>
        </p:spPr>
        <p:txBody>
          <a:bodyPr vert="horz" wrap="square" lIns="0" tIns="12065" rIns="0" bIns="0" rtlCol="0">
            <a:spAutoFit/>
          </a:bodyPr>
          <a:lstStyle/>
          <a:p>
            <a:pPr marL="12700">
              <a:lnSpc>
                <a:spcPct val="100000"/>
              </a:lnSpc>
              <a:spcBef>
                <a:spcPts val="95"/>
              </a:spcBef>
            </a:pPr>
            <a:endParaRPr lang="en-US" sz="2400" dirty="0">
              <a:latin typeface="Times New Roman" panose="02020603050405020304" pitchFamily="18" charset="0"/>
              <a:cs typeface="Times New Roman" panose="02020603050405020304" pitchFamily="18" charset="0"/>
            </a:endParaRPr>
          </a:p>
          <a:p>
            <a:pPr algn="just">
              <a:lnSpc>
                <a:spcPct val="150000"/>
              </a:lnSpc>
            </a:pPr>
            <a:r>
              <a:rPr sz="2800" b="1" spc="-10" dirty="0">
                <a:solidFill>
                  <a:srgbClr val="FF0000"/>
                </a:solidFill>
                <a:latin typeface="Times New Roman"/>
                <a:cs typeface="Times New Roman"/>
              </a:rPr>
              <a:t>DISADVANTAGES</a:t>
            </a:r>
            <a:endParaRPr lang="en-US" sz="2800" b="1" spc="-10" dirty="0">
              <a:solidFill>
                <a:srgbClr val="FF0000"/>
              </a:solidFill>
              <a:latin typeface="Times New Roman"/>
              <a:cs typeface="Times New Roman"/>
            </a:endParaRPr>
          </a:p>
          <a:p>
            <a:pPr marL="342900" indent="-342900" algn="just">
              <a:lnSpc>
                <a:spcPct val="150000"/>
              </a:lnSpc>
              <a:buFont typeface="Arial" panose="020B0604020202020204" pitchFamily="34" charset="0"/>
              <a:buChar char="•"/>
            </a:pPr>
            <a:r>
              <a:rPr lang="en-US" sz="2400" dirty="0">
                <a:effectLst/>
                <a:latin typeface="Times New Roman" panose="02020603050405020304" pitchFamily="18" charset="0"/>
                <a:cs typeface="Times New Roman" panose="02020603050405020304" pitchFamily="18" charset="0"/>
              </a:rPr>
              <a:t>Depends heavily on active student participation</a:t>
            </a:r>
            <a:endParaRPr lang="en-US"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400" dirty="0">
                <a:effectLst/>
                <a:latin typeface="Times New Roman" panose="02020603050405020304" pitchFamily="18" charset="0"/>
                <a:cs typeface="Times New Roman" panose="02020603050405020304" pitchFamily="18" charset="0"/>
              </a:rPr>
              <a:t>Requires internet connection to access the platform</a:t>
            </a:r>
            <a:endParaRPr lang="en-US"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400" dirty="0">
                <a:effectLst/>
                <a:latin typeface="Times New Roman" panose="02020603050405020304" pitchFamily="18" charset="0"/>
                <a:cs typeface="Times New Roman" panose="02020603050405020304" pitchFamily="18" charset="0"/>
              </a:rPr>
              <a:t>No advanced authentication mechanism in current version</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quality of recommendations depends on how clearly users describe their skills.</a:t>
            </a:r>
          </a:p>
          <a:p>
            <a:pPr marL="342900" indent="-342900" algn="just">
              <a:lnSpc>
                <a:spcPct val="150000"/>
              </a:lnSpc>
              <a:buFont typeface="Arial" panose="020B0604020202020204" pitchFamily="34" charset="0"/>
              <a:buChar char="•"/>
            </a:pPr>
            <a:r>
              <a:rPr lang="en-IN" sz="2400" dirty="0">
                <a:effectLst/>
                <a:latin typeface="Times New Roman" panose="02020603050405020304" pitchFamily="18" charset="0"/>
                <a:cs typeface="Times New Roman" panose="02020603050405020304" pitchFamily="18" charset="0"/>
              </a:rPr>
              <a:t>No </a:t>
            </a:r>
            <a:r>
              <a:rPr lang="en-IN" sz="2400" dirty="0">
                <a:latin typeface="Times New Roman" panose="02020603050405020304" pitchFamily="18" charset="0"/>
                <a:cs typeface="Times New Roman" panose="02020603050405020304" pitchFamily="18" charset="0"/>
              </a:rPr>
              <a:t>offline  mode.</a:t>
            </a:r>
            <a:endParaRPr lang="en-US" sz="2400" dirty="0">
              <a:effectLst/>
              <a:latin typeface="Times New Roman" panose="02020603050405020304" pitchFamily="18" charset="0"/>
              <a:cs typeface="Times New Roman" panose="02020603050405020304" pitchFamily="18" charset="0"/>
            </a:endParaRPr>
          </a:p>
          <a:p>
            <a:pPr algn="just">
              <a:lnSpc>
                <a:spcPct val="150000"/>
              </a:lnSpc>
            </a:pPr>
            <a:endParaRPr lang="en-US" sz="2400" dirty="0">
              <a:latin typeface="Times New Roman" panose="02020603050405020304" pitchFamily="18" charset="0"/>
              <a:cs typeface="Times New Roman" panose="02020603050405020304" pitchFamily="18" charset="0"/>
            </a:endParaRPr>
          </a:p>
          <a:p>
            <a:br>
              <a:rPr lang="en-US" sz="2400" dirty="0"/>
            </a:br>
            <a:endParaRPr lang="en-US" sz="2400" dirty="0"/>
          </a:p>
          <a:p>
            <a:pPr marL="342900" indent="-342900">
              <a:lnSpc>
                <a:spcPct val="150000"/>
              </a:lnSpc>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12700">
              <a:lnSpc>
                <a:spcPct val="100000"/>
              </a:lnSpc>
            </a:pPr>
            <a:endParaRPr sz="2800" dirty="0">
              <a:latin typeface="Times New Roman"/>
              <a:cs typeface="Times New Roman"/>
            </a:endParaRPr>
          </a:p>
          <a:p>
            <a:pPr marL="278765" indent="-269875">
              <a:lnSpc>
                <a:spcPct val="100000"/>
              </a:lnSpc>
              <a:buSzPct val="96428"/>
              <a:buAutoNum type="arabicPeriod"/>
              <a:tabLst>
                <a:tab pos="278765" algn="l"/>
              </a:tabLst>
            </a:pPr>
            <a:endParaRPr sz="2800" dirty="0">
              <a:latin typeface="Times New Roman"/>
              <a:cs typeface="Times New Roman"/>
            </a:endParaRPr>
          </a:p>
        </p:txBody>
      </p:sp>
      <p:pic>
        <p:nvPicPr>
          <p:cNvPr id="3" name="object 4">
            <a:extLst>
              <a:ext uri="{FF2B5EF4-FFF2-40B4-BE49-F238E27FC236}">
                <a16:creationId xmlns:a16="http://schemas.microsoft.com/office/drawing/2014/main" id="{5034AFC0-6BD4-8F5C-0C40-2DB4FA293A2C}"/>
              </a:ext>
            </a:extLst>
          </p:cNvPr>
          <p:cNvPicPr/>
          <p:nvPr/>
        </p:nvPicPr>
        <p:blipFill>
          <a:blip r:embed="rId2" cstate="print"/>
          <a:stretch>
            <a:fillRect/>
          </a:stretch>
        </p:blipFill>
        <p:spPr>
          <a:xfrm>
            <a:off x="9753600" y="152400"/>
            <a:ext cx="2057400" cy="914400"/>
          </a:xfrm>
          <a:prstGeom prst="rect">
            <a:avLst/>
          </a:prstGeom>
        </p:spPr>
      </p:pic>
    </p:spTree>
    <p:extLst>
      <p:ext uri="{BB962C8B-B14F-4D97-AF65-F5344CB8AC3E}">
        <p14:creationId xmlns:p14="http://schemas.microsoft.com/office/powerpoint/2010/main" val="23371420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51180" y="664591"/>
            <a:ext cx="10680065" cy="6134372"/>
          </a:xfrm>
          <a:prstGeom prst="rect">
            <a:avLst/>
          </a:prstGeom>
        </p:spPr>
        <p:txBody>
          <a:bodyPr vert="horz" wrap="square" lIns="0" tIns="12065" rIns="0" bIns="0" rtlCol="0">
            <a:spAutoFit/>
          </a:bodyPr>
          <a:lstStyle/>
          <a:p>
            <a:pPr marL="12700" algn="just">
              <a:lnSpc>
                <a:spcPct val="100000"/>
              </a:lnSpc>
              <a:spcBef>
                <a:spcPts val="95"/>
              </a:spcBef>
            </a:pPr>
            <a:r>
              <a:rPr sz="2800" b="1" dirty="0">
                <a:solidFill>
                  <a:srgbClr val="FF0000"/>
                </a:solidFill>
                <a:latin typeface="Times New Roman"/>
                <a:cs typeface="Times New Roman"/>
              </a:rPr>
              <a:t>FUTURE</a:t>
            </a:r>
            <a:r>
              <a:rPr sz="2800" b="1" spc="-105" dirty="0">
                <a:solidFill>
                  <a:srgbClr val="FF0000"/>
                </a:solidFill>
                <a:latin typeface="Times New Roman"/>
                <a:cs typeface="Times New Roman"/>
              </a:rPr>
              <a:t> </a:t>
            </a:r>
            <a:r>
              <a:rPr sz="2800" b="1" spc="-10" dirty="0">
                <a:solidFill>
                  <a:srgbClr val="FF0000"/>
                </a:solidFill>
                <a:latin typeface="Times New Roman"/>
                <a:cs typeface="Times New Roman"/>
              </a:rPr>
              <a:t>SCOPE</a:t>
            </a:r>
            <a:endParaRPr lang="en-US" sz="2800" b="1" spc="-10" dirty="0">
              <a:solidFill>
                <a:srgbClr val="FF0000"/>
              </a:solidFill>
              <a:latin typeface="Times New Roman"/>
              <a:cs typeface="Times New Roman"/>
            </a:endParaRPr>
          </a:p>
          <a:p>
            <a:pPr marL="12700" algn="just">
              <a:lnSpc>
                <a:spcPct val="100000"/>
              </a:lnSpc>
              <a:spcBef>
                <a:spcPts val="95"/>
              </a:spcBef>
            </a:pPr>
            <a:endParaRPr sz="2800" dirty="0">
              <a:solidFill>
                <a:srgbClr val="FF0000"/>
              </a:solidFill>
              <a:latin typeface="Times New Roman"/>
              <a:cs typeface="Times New Roman"/>
            </a:endParaRP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Advanced Machine Learning Algorithms</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Mobile Application Development</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Real-time notification system</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Admin monitoring dashboard</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Deep Learning recommendation system</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Cloud-based database</a:t>
            </a:r>
          </a:p>
          <a:p>
            <a:pPr marL="342900" lvl="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Multi-language support</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Performance analytics tracking</a:t>
            </a:r>
            <a:endParaRPr lang="en-US" sz="2400" dirty="0">
              <a:latin typeface="Times New Roman" panose="02020603050405020304" pitchFamily="18" charset="0"/>
              <a:cs typeface="Times New Roman" panose="02020603050405020304" pitchFamily="18" charset="0"/>
            </a:endParaRPr>
          </a:p>
          <a:p>
            <a:pPr marL="12700" marR="5080" algn="just">
              <a:lnSpc>
                <a:spcPct val="100000"/>
              </a:lnSpc>
              <a:spcBef>
                <a:spcPts val="3015"/>
              </a:spcBef>
            </a:pPr>
            <a:endParaRPr sz="2800" dirty="0">
              <a:latin typeface="Times New Roman"/>
              <a:cs typeface="Times New Roman"/>
            </a:endParaRPr>
          </a:p>
        </p:txBody>
      </p:sp>
      <p:pic>
        <p:nvPicPr>
          <p:cNvPr id="3" name="object 4">
            <a:extLst>
              <a:ext uri="{FF2B5EF4-FFF2-40B4-BE49-F238E27FC236}">
                <a16:creationId xmlns:a16="http://schemas.microsoft.com/office/drawing/2014/main" id="{0F3E65D1-D6B3-6BFE-35E7-1C46F87435DB}"/>
              </a:ext>
            </a:extLst>
          </p:cNvPr>
          <p:cNvPicPr/>
          <p:nvPr/>
        </p:nvPicPr>
        <p:blipFill>
          <a:blip r:embed="rId2" cstate="print"/>
          <a:stretch>
            <a:fillRect/>
          </a:stretch>
        </p:blipFill>
        <p:spPr>
          <a:xfrm>
            <a:off x="9372600" y="152400"/>
            <a:ext cx="2057400" cy="838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8157" y="593598"/>
            <a:ext cx="2430145" cy="452120"/>
          </a:xfrm>
          <a:prstGeom prst="rect">
            <a:avLst/>
          </a:prstGeom>
        </p:spPr>
        <p:txBody>
          <a:bodyPr vert="horz" wrap="square" lIns="0" tIns="12065" rIns="0" bIns="0" rtlCol="0">
            <a:spAutoFit/>
          </a:bodyPr>
          <a:lstStyle/>
          <a:p>
            <a:pPr marL="12700">
              <a:lnSpc>
                <a:spcPct val="100000"/>
              </a:lnSpc>
              <a:spcBef>
                <a:spcPts val="95"/>
              </a:spcBef>
            </a:pPr>
            <a:r>
              <a:rPr spc="-10" dirty="0"/>
              <a:t>CONCLUSION</a:t>
            </a:r>
          </a:p>
        </p:txBody>
      </p:sp>
      <p:sp>
        <p:nvSpPr>
          <p:cNvPr id="3" name="object 3"/>
          <p:cNvSpPr txBox="1">
            <a:spLocks noGrp="1"/>
          </p:cNvSpPr>
          <p:nvPr>
            <p:ph type="body" idx="1"/>
          </p:nvPr>
        </p:nvSpPr>
        <p:spPr>
          <a:xfrm>
            <a:off x="381000" y="1219200"/>
            <a:ext cx="10643082" cy="5534207"/>
          </a:xfrm>
          <a:prstGeom prst="rect">
            <a:avLst/>
          </a:prstGeom>
        </p:spPr>
        <p:txBody>
          <a:bodyPr vert="horz" wrap="square" lIns="0" tIns="12065" rIns="0" bIns="0" rtlCol="0">
            <a:spAutoFit/>
          </a:bodyPr>
          <a:lstStyle/>
          <a:p>
            <a:pPr algn="just">
              <a:lnSpc>
                <a:spcPct val="150000"/>
              </a:lnSpc>
            </a:pPr>
            <a:r>
              <a:rPr lang="en-US" sz="2400" dirty="0"/>
              <a:t>The Student Skill Exchange Platform provides an effective way for students to connect with others who have similar skills and learning interests. By using machine learning techniques such as TF-IDF and Cosine Similarity, the system analyzes student skill data and generates relevant recommendations. This helps students find suitable peers for collaboration, knowledge sharing, and skill development. The platform demonstrates how technology and machine learning can support student learning communities and improve interaction among students. In the future, the system can be enhanced with additional features to make the platform more interactive and efficient.</a:t>
            </a:r>
          </a:p>
          <a:p>
            <a:pPr marL="457200" indent="-457200">
              <a:lnSpc>
                <a:spcPct val="150000"/>
              </a:lnSpc>
              <a:buFont typeface="Arial" panose="020B0604020202020204" pitchFamily="34" charset="0"/>
              <a:buChar char="•"/>
            </a:pPr>
            <a:endParaRPr lang="en-US" dirty="0"/>
          </a:p>
          <a:p>
            <a:pPr marL="12700" marR="5080" algn="just">
              <a:lnSpc>
                <a:spcPct val="100000"/>
              </a:lnSpc>
              <a:spcBef>
                <a:spcPts val="95"/>
              </a:spcBef>
            </a:pPr>
            <a:endParaRPr spc="-10" dirty="0"/>
          </a:p>
        </p:txBody>
      </p:sp>
      <p:pic>
        <p:nvPicPr>
          <p:cNvPr id="4" name="object 4">
            <a:extLst>
              <a:ext uri="{FF2B5EF4-FFF2-40B4-BE49-F238E27FC236}">
                <a16:creationId xmlns:a16="http://schemas.microsoft.com/office/drawing/2014/main" id="{CE9D75A8-4155-A1F5-81DF-B6F068A9BCE4}"/>
              </a:ext>
            </a:extLst>
          </p:cNvPr>
          <p:cNvPicPr/>
          <p:nvPr/>
        </p:nvPicPr>
        <p:blipFill>
          <a:blip r:embed="rId2" cstate="print"/>
          <a:stretch>
            <a:fillRect/>
          </a:stretch>
        </p:blipFill>
        <p:spPr>
          <a:xfrm>
            <a:off x="9601200" y="152400"/>
            <a:ext cx="1828800" cy="838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alpha val="97000"/>
          </a:schemeClr>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197732" y="2322321"/>
            <a:ext cx="5525135" cy="1031240"/>
          </a:xfrm>
          <a:prstGeom prst="rect">
            <a:avLst/>
          </a:prstGeom>
        </p:spPr>
        <p:txBody>
          <a:bodyPr vert="horz" wrap="square" lIns="0" tIns="12700" rIns="0" bIns="0" rtlCol="0">
            <a:spAutoFit/>
          </a:bodyPr>
          <a:lstStyle/>
          <a:p>
            <a:pPr marL="12700">
              <a:lnSpc>
                <a:spcPct val="100000"/>
              </a:lnSpc>
              <a:spcBef>
                <a:spcPts val="100"/>
              </a:spcBef>
            </a:pPr>
            <a:r>
              <a:rPr lang="en-IN" sz="6600" b="0" spc="509" dirty="0">
                <a:latin typeface="Georgia"/>
                <a:cs typeface="Georgia"/>
              </a:rPr>
              <a:t>THANK</a:t>
            </a:r>
            <a:r>
              <a:rPr lang="en-IN" sz="6600" b="0" spc="70" dirty="0">
                <a:latin typeface="Georgia"/>
                <a:cs typeface="Georgia"/>
              </a:rPr>
              <a:t> </a:t>
            </a:r>
            <a:r>
              <a:rPr lang="en-IN" sz="6600" b="0" spc="405" dirty="0">
                <a:latin typeface="Georgia"/>
                <a:cs typeface="Georgia"/>
              </a:rPr>
              <a:t>YOU</a:t>
            </a:r>
            <a:endParaRPr sz="6600" dirty="0">
              <a:latin typeface="Georgia"/>
              <a:cs typeface="Georgi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2665</TotalTime>
  <Words>1508</Words>
  <Application>Microsoft Office PowerPoint</Application>
  <PresentationFormat>Widescreen</PresentationFormat>
  <Paragraphs>203</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Arial MT</vt:lpstr>
      <vt:lpstr>Calibri</vt:lpstr>
      <vt:lpstr>Georgia</vt:lpstr>
      <vt:lpstr>Times New Roman</vt:lpstr>
      <vt:lpstr>Wingdings</vt:lpstr>
      <vt:lpstr>Office Theme</vt:lpstr>
      <vt:lpstr> </vt:lpstr>
      <vt:lpstr>CONTENTS</vt:lpstr>
      <vt:lpstr>INTRODUCTION</vt:lpstr>
      <vt:lpstr>PROJECT OVERVIEW</vt:lpstr>
      <vt:lpstr>PROBLEM STATEMENT</vt:lpstr>
      <vt:lpstr>PowerPoint Presentation</vt:lpstr>
      <vt:lpstr>LITERATURE  SURVEY</vt:lpstr>
      <vt:lpstr>PowerPoint Presentation</vt:lpstr>
      <vt:lpstr>PowerPoint Presentation</vt:lpstr>
      <vt:lpstr>PROPOSED SYSTEM</vt:lpstr>
      <vt:lpstr>SYSTEM ARCHITECTURE</vt:lpstr>
      <vt:lpstr>STEP-BY-STEP WORKING</vt:lpstr>
      <vt:lpstr>TOOLS &amp;TECHNOLOGIES USED</vt:lpstr>
      <vt:lpstr>PowerPoint Presentation</vt:lpstr>
      <vt:lpstr>RESULTS</vt:lpstr>
      <vt:lpstr>PowerPoint Presentation</vt:lpstr>
      <vt:lpstr>PowerPoint Presentation</vt:lpstr>
      <vt:lpstr>PowerPoint Presentation</vt:lpstr>
      <vt:lpstr>PowerPoint Presentation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Naganamudi Ramadurga</dc:creator>
  <cp:lastModifiedBy>Gudla V.V.Mahesh</cp:lastModifiedBy>
  <cp:revision>7</cp:revision>
  <dcterms:created xsi:type="dcterms:W3CDTF">2026-02-05T15:11:21Z</dcterms:created>
  <dcterms:modified xsi:type="dcterms:W3CDTF">2026-03-05T11:18:03Z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2026-01-26T00:00:00Z</vt:filetime>
  </property>
  <property fmtid="{D5CDD505-2E9C-101B-9397-08002B2CF9AE}" pid="3" name="Creator">
    <vt:lpwstr>Microsoft® PowerPoint® 2021</vt:lpwstr>
  </property>
  <property fmtid="{D5CDD505-2E9C-101B-9397-08002B2CF9AE}" pid="4" name="LastSaved">
    <vt:filetime>2026-02-05T00:00:00Z</vt:filetime>
  </property>
  <property fmtid="{D5CDD505-2E9C-101B-9397-08002B2CF9AE}" pid="5" name="Producer">
    <vt:lpwstr>Microsoft® PowerPoint® 2021</vt:lpwstr>
  </property>
</Properties>
</file>